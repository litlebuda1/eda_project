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1502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1 (0:15). Begrüßung, Thema in einem Satz: Wir beraten eine Käuferin mit Daten zu Lage, Größe/Ausstattung und Zeitpunkt. Der Titel 'Wo, was und wann?' entspricht der Gliederung der drei Hypothesen.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2 (0:45). Kundin vorstellen, Annahmen offen nennen (alleinstehend, Zimmerzahl). Dann die Leitfrage und die drei Teilfragen als roter Faden. Hinweis: Im Notebook heißen die Hypothesen 1 (Zeitpunkt), 2 (Größe), 3 (Lage); in der Präsentation gehen wir in der Reihenfolge Wo, Was, Wann vor.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3 (0:45). Kurz halten: Datenquelle (King County House Sales), Zeitraum, nur Häuser. Die Bereinigung (z. B. Renovierungsjahr, 33-Zimmer-Haus) nur erwähnen, Details stehen im Notebook.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4 (1:00). 'Zentral' wurde über die Entfernung zum nächsten Hub operationalisiert, weil der Datensatz keine Stadtteile oder Straßen enthält. Hub-Liste und Radius aus dem Notebook übernehmen. Karte: Plot der Hubs mit den passenden Häusern.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5 (1:15). Hypothese 3 im Notebook: 'In definiertem Abstand zum belebten Zentrum sind Häuser bei ähnlicher Größe günstiger.' Ergebnis: ja, aber der Effekt ist mäßig. Der Gesamtpreis sinkt kaum, weil die Häuser draußen größer sind. Der sinkende Preis pro m² ist erst ab ca. 3 km im Boxplot deutlich. Korrelationen sind Spearman-Werte für Häuser bis 5 km. Hinweis auf kleine Fallzahlen im inneren Ring.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6 (1:30). Hypothese 2 im Notebook: 'Kleinere Wohnungen sind in zentraler Lage günstiger als große.' Antwort: teilweise. Der Gesamtpreis steigt in jeder Qualitätsgruppe mit der Fläche (kleiner = günstiger), der Preis pro m² sinkt mit der Fläche. Der stärkere Preistreiber ist grade. Entfernung nach Qualitätsgruppen ähnlich (Median ca. 2,7 bis 3,1 km). Einschränkung: Gruppe 'einfach' über 200 m² nur 14 Häuser. Die Werte 320.000 und 625.000 sind aus dem Plot abgelesene Mediane, bitte mit dem Notebook abgleichen.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7 (1:30). Hypothese 1 im Notebook: 'Die Preise im Innenstadtbereich steigen, ein schneller Kauf könnte Geld sparen.' Ergebnis: kein einheitlicher Trend. Über die 13 Monate sind die Mediane in allen drei Qualitätsstufen weitgehend konstant, keine Saisonalität. Nur im mittleren Segment liegt der letzte Monat (Mai 2015) höher, der Anstieg von +21 % beruht im Monatsverlauf vor allem auf diesem einen Monat. Gruppe 'gehoben' 2015 nur n = 10. Wiederverkäufe: 176 Häuser, Median ca. 60 Prozent in einfach und mittel, ca. 7 Prozent in gehoben; Aufwertungen vermutet, Veränderung von grade nicht messbar.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8 (1:15). Die vier Empfehlungen entsprechen den drei Hypothesen plus Zustand. Betonen: Die größte Stellschraube fürs Budget ist die Ausstattung, nicht die Lage. Der Zustand (condition) hängt kaum mit dem Preis zusammen.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9 (0:30). Ehrlich benennen, was die Daten nicht hergeben. Das stärkt die Glaubwürdigkeit der Empfehlung.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10 (0:30). Konkrete, handlungsorientierte Schritte für die Kundin.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Folie 11 (5:00 Diskussion). Backup-Folien bei Bedarf ergänzen: Karte der Wiederverkäufe nach Qualität, Korrelationsmatrizen, Details zur Datenbereinigung.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22960" y="1554480"/>
            <a:ext cx="10515600" cy="1828800"/>
          </a:xfrm>
        </p:spPr>
        <p:txBody>
          <a:bodyPr wrap="square" lIns="0" tIns="0" rIns="0" bIns="0" anchor="b"/>
          <a:lstStyle/>
          <a:p>
            <a:pPr algn="l"/>
            <a:r>
              <a:rPr sz="5400" b="1" i="0">
                <a:solidFill>
                  <a:srgbClr val="FFFFFF"/>
                </a:solidFill>
                <a:latin typeface="Cambria"/>
              </a:rPr>
              <a:t>Wo, was und wann?</a:t>
            </a:r>
          </a:p>
        </p:txBody>
      </p:sp>
      <p:sp>
        <p:nvSpPr>
          <p:cNvPr id="3" name="Subtitle 2"/>
          <p:cNvSpPr>
            <a:spLocks noGrp="1"/>
          </p:cNvSpPr>
          <p:nvPr>
            <p:ph type="subTitle" idx="1"/>
          </p:nvPr>
        </p:nvSpPr>
        <p:spPr>
          <a:xfrm>
            <a:off x="822960" y="3611880"/>
            <a:ext cx="10058400" cy="1280160"/>
          </a:xfrm>
        </p:spPr>
        <p:txBody>
          <a:bodyPr wrap="square" lIns="0" tIns="0" rIns="0" bIns="0" anchor="t"/>
          <a:lstStyle/>
          <a:p>
            <a:pPr algn="l"/>
            <a:r>
              <a:rPr sz="2200" b="0" i="0">
                <a:solidFill>
                  <a:srgbClr val="F2A541"/>
                </a:solidFill>
                <a:latin typeface="Calibri"/>
              </a:rPr>
              <a:t>Hauskauf in Seattle mit Daten entscheiden. Eine Datenanalyse für Nicole Johnson, King County 2014/15</a:t>
            </a:r>
          </a:p>
        </p:txBody>
      </p:sp>
      <p:sp>
        <p:nvSpPr>
          <p:cNvPr id="4" name="Autor"/>
          <p:cNvSpPr txBox="1"/>
          <p:nvPr/>
        </p:nvSpPr>
        <p:spPr>
          <a:xfrm>
            <a:off x="822960" y="5669280"/>
            <a:ext cx="10058400" cy="457200"/>
          </a:xfrm>
          <a:prstGeom prst="rect">
            <a:avLst/>
          </a:prstGeom>
          <a:noFill/>
        </p:spPr>
        <p:txBody>
          <a:bodyPr wrap="square" lIns="0" tIns="0" rIns="0" bIns="0" anchor="t">
            <a:spAutoFit/>
          </a:bodyPr>
          <a:lstStyle/>
          <a:p>
            <a:pPr algn="l"/>
            <a:r>
              <a:rPr sz="1600" b="0" i="0">
                <a:solidFill>
                  <a:srgbClr val="EDF2F3"/>
                </a:solidFill>
                <a:latin typeface="Calibri"/>
              </a:rPr>
              <a:t>Justus Knappert · Data Science Bootcamp · Abschlussprojekt EDA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a:solidFill>
                  <a:srgbClr val="0B3C49"/>
                </a:solidFill>
                <a:latin typeface="Cambria"/>
              </a:rPr>
              <a:t>Nicole Johnson sucht ein Haus: zentral, belebt und im mittleren Preissegment</a:t>
            </a: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2</a:t>
            </a:fld>
            <a:endParaRPr lang="de-DE" sz="1000">
              <a:solidFill>
                <a:srgbClr val="7C8C91"/>
              </a:solidFill>
            </a:endParaRPr>
          </a:p>
        </p:txBody>
      </p:sp>
      <p:sp>
        <p:nvSpPr>
          <p:cNvPr id="5" name="Steckbrief Karte"/>
          <p:cNvSpPr/>
          <p:nvPr/>
        </p:nvSpPr>
        <p:spPr>
          <a:xfrm>
            <a:off x="548640" y="1645920"/>
            <a:ext cx="5669280" cy="452628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74519"/>
            <a:ext cx="5029200" cy="457200"/>
          </a:xfrm>
          <a:prstGeom prst="rect">
            <a:avLst/>
          </a:prstGeom>
          <a:noFill/>
        </p:spPr>
        <p:txBody>
          <a:bodyPr wrap="square" lIns="0" tIns="0" rIns="0" bIns="0" anchor="t">
            <a:spAutoFit/>
          </a:bodyPr>
          <a:lstStyle/>
          <a:p>
            <a:pPr algn="l"/>
            <a:r>
              <a:rPr sz="2200" b="1" i="0">
                <a:solidFill>
                  <a:srgbClr val="0B3C49"/>
                </a:solidFill>
                <a:latin typeface="Cambria"/>
              </a:rPr>
              <a:t>Steckbrief</a:t>
            </a:r>
          </a:p>
        </p:txBody>
      </p:sp>
      <p:sp>
        <p:nvSpPr>
          <p:cNvPr id="7" name="Steckbrief Text"/>
          <p:cNvSpPr txBox="1"/>
          <p:nvPr/>
        </p:nvSpPr>
        <p:spPr>
          <a:xfrm>
            <a:off x="868680" y="2514600"/>
            <a:ext cx="5029200" cy="3383280"/>
          </a:xfrm>
          <a:prstGeom prst="rect">
            <a:avLst/>
          </a:prstGeom>
          <a:noFill/>
        </p:spPr>
        <p:txBody>
          <a:bodyPr wrap="square" lIns="0" tIns="0" rIns="0" bIns="0" anchor="t">
            <a:spAutoFit/>
          </a:bodyPr>
          <a:lstStyle/>
          <a:p>
            <a:pPr marL="285750" indent="-285750" algn="l">
              <a:spcAft>
                <a:spcPts val="1000"/>
              </a:spcAft>
              <a:buChar char="•"/>
            </a:pPr>
            <a:r>
              <a:rPr sz="1800" b="0" i="0">
                <a:solidFill>
                  <a:srgbClr val="1B2A2F"/>
                </a:solidFill>
                <a:latin typeface="Calibri"/>
              </a:rPr>
              <a:t>Kauf innerhalb eines Jahres</a:t>
            </a:r>
          </a:p>
          <a:p>
            <a:pPr marL="285750" indent="-285750" algn="l">
              <a:spcAft>
                <a:spcPts val="1000"/>
              </a:spcAft>
              <a:buChar char="•"/>
            </a:pPr>
            <a:r>
              <a:rPr sz="1800" b="0" i="0">
                <a:solidFill>
                  <a:srgbClr val="1B2A2F"/>
                </a:solidFill>
                <a:latin typeface="Calibri"/>
              </a:rPr>
              <a:t>Mittlere Preisklasse</a:t>
            </a:r>
          </a:p>
          <a:p>
            <a:pPr marL="285750" indent="-285750" algn="l">
              <a:spcAft>
                <a:spcPts val="1000"/>
              </a:spcAft>
              <a:buChar char="•"/>
            </a:pPr>
            <a:r>
              <a:rPr sz="1800" b="0" i="0">
                <a:solidFill>
                  <a:srgbClr val="1B2A2F"/>
                </a:solidFill>
                <a:latin typeface="Calibri"/>
              </a:rPr>
              <a:t>Zentral und belebt (Bars, Cafés, Brauereien)</a:t>
            </a:r>
          </a:p>
          <a:p>
            <a:pPr marL="285750" indent="-285750" algn="l">
              <a:spcAft>
                <a:spcPts val="1000"/>
              </a:spcAft>
              <a:buChar char="•"/>
            </a:pPr>
            <a:r>
              <a:rPr sz="1800" b="0" i="0">
                <a:solidFill>
                  <a:srgbClr val="1B2A2F"/>
                </a:solidFill>
                <a:latin typeface="Calibri"/>
              </a:rPr>
              <a:t>Sucht allein (Annahme)</a:t>
            </a:r>
          </a:p>
          <a:p>
            <a:pPr marL="285750" indent="-285750" algn="l">
              <a:spcAft>
                <a:spcPts val="1000"/>
              </a:spcAft>
              <a:buChar char="•"/>
            </a:pPr>
            <a:r>
              <a:rPr sz="1800" b="0" i="0">
                <a:solidFill>
                  <a:srgbClr val="1B2A2F"/>
                </a:solidFill>
                <a:latin typeface="Calibri"/>
              </a:rPr>
              <a:t>2 bis 3 Zimmer, 1 bis 2 Bäder</a:t>
            </a:r>
          </a:p>
        </p:txBody>
      </p:sp>
      <p:sp>
        <p:nvSpPr>
          <p:cNvPr id="8" name="Leitfrage Karte"/>
          <p:cNvSpPr/>
          <p:nvPr/>
        </p:nvSpPr>
        <p:spPr>
          <a:xfrm>
            <a:off x="6583680" y="1645920"/>
            <a:ext cx="5029200" cy="452628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03720" y="1874519"/>
            <a:ext cx="4389120" cy="365760"/>
          </a:xfrm>
          <a:prstGeom prst="rect">
            <a:avLst/>
          </a:prstGeom>
          <a:noFill/>
        </p:spPr>
        <p:txBody>
          <a:bodyPr wrap="square" lIns="0" tIns="0" rIns="0" bIns="0" anchor="t">
            <a:spAutoFit/>
          </a:bodyPr>
          <a:lstStyle/>
          <a:p>
            <a:pPr algn="l"/>
            <a:r>
              <a:rPr sz="1400" b="1" i="0">
                <a:solidFill>
                  <a:srgbClr val="F2A541"/>
                </a:solidFill>
                <a:latin typeface="Calibri"/>
              </a:rPr>
              <a:t>Leitfrage</a:t>
            </a:r>
          </a:p>
        </p:txBody>
      </p:sp>
      <p:sp>
        <p:nvSpPr>
          <p:cNvPr id="10" name="TextBox 9"/>
          <p:cNvSpPr txBox="1"/>
          <p:nvPr/>
        </p:nvSpPr>
        <p:spPr>
          <a:xfrm>
            <a:off x="6903720" y="2331720"/>
            <a:ext cx="4389120" cy="1463040"/>
          </a:xfrm>
          <a:prstGeom prst="rect">
            <a:avLst/>
          </a:prstGeom>
          <a:noFill/>
        </p:spPr>
        <p:txBody>
          <a:bodyPr wrap="square" lIns="0" tIns="0" rIns="0" bIns="0" anchor="t">
            <a:spAutoFit/>
          </a:bodyPr>
          <a:lstStyle/>
          <a:p>
            <a:pPr algn="l"/>
            <a:r>
              <a:rPr sz="3000" b="1" i="0">
                <a:solidFill>
                  <a:srgbClr val="FFFFFF"/>
                </a:solidFill>
                <a:latin typeface="Cambria"/>
              </a:rPr>
              <a:t>Wo, was und wann sollte Nicole kaufen?</a:t>
            </a:r>
          </a:p>
        </p:txBody>
      </p:sp>
      <p:sp>
        <p:nvSpPr>
          <p:cNvPr id="11" name="Teilfragen"/>
          <p:cNvSpPr txBox="1"/>
          <p:nvPr/>
        </p:nvSpPr>
        <p:spPr>
          <a:xfrm>
            <a:off x="868680" y="4576001"/>
            <a:ext cx="4389120" cy="984885"/>
          </a:xfrm>
          <a:prstGeom prst="rect">
            <a:avLst/>
          </a:prstGeom>
          <a:noFill/>
        </p:spPr>
        <p:txBody>
          <a:bodyPr wrap="square" lIns="0" tIns="0" rIns="0" bIns="0" anchor="t">
            <a:spAutoFit/>
          </a:bodyPr>
          <a:lstStyle/>
          <a:p>
            <a:pPr algn="l">
              <a:spcAft>
                <a:spcPts val="600"/>
              </a:spcAft>
            </a:pPr>
            <a:r>
              <a:rPr sz="1800" b="0" i="0" dirty="0">
                <a:latin typeface="Calibri"/>
              </a:rPr>
              <a:t>Wo? Lage und Preis</a:t>
            </a:r>
          </a:p>
          <a:p>
            <a:pPr algn="l">
              <a:spcAft>
                <a:spcPts val="600"/>
              </a:spcAft>
            </a:pPr>
            <a:r>
              <a:rPr sz="1800" b="0" i="0" dirty="0">
                <a:latin typeface="Calibri"/>
              </a:rPr>
              <a:t>Was? </a:t>
            </a:r>
            <a:r>
              <a:rPr sz="1800" b="0" i="0" dirty="0" err="1">
                <a:latin typeface="Calibri"/>
              </a:rPr>
              <a:t>Größe</a:t>
            </a:r>
            <a:r>
              <a:rPr sz="1800" b="0" i="0" dirty="0">
                <a:latin typeface="Calibri"/>
              </a:rPr>
              <a:t> und </a:t>
            </a:r>
            <a:r>
              <a:rPr sz="1800" b="0" i="0" dirty="0" err="1">
                <a:latin typeface="Calibri"/>
              </a:rPr>
              <a:t>Ausstattung</a:t>
            </a:r>
            <a:endParaRPr sz="1800" b="0" i="0" dirty="0">
              <a:latin typeface="Calibri"/>
            </a:endParaRPr>
          </a:p>
          <a:p>
            <a:pPr algn="l"/>
            <a:r>
              <a:rPr sz="1800" b="0" i="0" dirty="0">
                <a:latin typeface="Calibri"/>
              </a:rPr>
              <a:t>Wann? </a:t>
            </a:r>
            <a:r>
              <a:rPr sz="1800" b="0" i="0" dirty="0" err="1">
                <a:latin typeface="Calibri"/>
              </a:rPr>
              <a:t>Zeitpunkt</a:t>
            </a:r>
            <a:r>
              <a:rPr sz="1800" b="0" i="0" dirty="0">
                <a:latin typeface="Calibri"/>
              </a:rPr>
              <a:t> des Kaufs</a:t>
            </a:r>
          </a:p>
        </p:txBody>
      </p:sp>
      <p:sp>
        <p:nvSpPr>
          <p:cNvPr id="13" name="Ergebnis-Label">
            <a:extLst>
              <a:ext uri="{FF2B5EF4-FFF2-40B4-BE49-F238E27FC236}">
                <a16:creationId xmlns:a16="http://schemas.microsoft.com/office/drawing/2014/main" id="{1FE9EC47-3215-9E51-3FD3-BE381DD04D13}"/>
              </a:ext>
            </a:extLst>
          </p:cNvPr>
          <p:cNvSpPr/>
          <p:nvPr/>
        </p:nvSpPr>
        <p:spPr>
          <a:xfrm>
            <a:off x="6807708" y="3429000"/>
            <a:ext cx="4581144" cy="5029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i="0" dirty="0" err="1">
                <a:solidFill>
                  <a:srgbClr val="1B2A2F"/>
                </a:solidFill>
                <a:latin typeface="Calibri"/>
              </a:rPr>
              <a:t>Hypothese</a:t>
            </a:r>
            <a:r>
              <a:rPr lang="de-DE" sz="1300" b="1" i="0" dirty="0">
                <a:solidFill>
                  <a:srgbClr val="1B2A2F"/>
                </a:solidFill>
                <a:latin typeface="Calibri"/>
              </a:rPr>
              <a:t> 1</a:t>
            </a:r>
            <a:r>
              <a:rPr sz="1300" b="1" i="0" dirty="0">
                <a:solidFill>
                  <a:srgbClr val="1B2A2F"/>
                </a:solidFill>
                <a:latin typeface="Calibri"/>
              </a:rPr>
              <a:t>: </a:t>
            </a:r>
            <a:r>
              <a:rPr lang="de-DE" sz="1300" b="1" i="0" dirty="0">
                <a:solidFill>
                  <a:srgbClr val="1B2A2F"/>
                </a:solidFill>
                <a:latin typeface="Calibri"/>
              </a:rPr>
              <a:t>in einem definiertem Abstand zur belebten Gegend sind die Wohnungen bei ähnlicher </a:t>
            </a:r>
            <a:r>
              <a:rPr lang="de-DE" sz="1300" b="1" i="0" dirty="0" err="1">
                <a:solidFill>
                  <a:srgbClr val="1B2A2F"/>
                </a:solidFill>
                <a:latin typeface="Calibri"/>
              </a:rPr>
              <a:t>größe</a:t>
            </a:r>
            <a:r>
              <a:rPr lang="de-DE" sz="1300" b="1" i="0" dirty="0">
                <a:solidFill>
                  <a:srgbClr val="1B2A2F"/>
                </a:solidFill>
                <a:latin typeface="Calibri"/>
              </a:rPr>
              <a:t> Günstiger</a:t>
            </a:r>
            <a:endParaRPr sz="1300" b="1" i="0" dirty="0">
              <a:solidFill>
                <a:srgbClr val="1B2A2F"/>
              </a:solidFill>
              <a:latin typeface="Calibri"/>
            </a:endParaRPr>
          </a:p>
        </p:txBody>
      </p:sp>
      <p:sp>
        <p:nvSpPr>
          <p:cNvPr id="14" name="Ergebnis-Label">
            <a:extLst>
              <a:ext uri="{FF2B5EF4-FFF2-40B4-BE49-F238E27FC236}">
                <a16:creationId xmlns:a16="http://schemas.microsoft.com/office/drawing/2014/main" id="{68B89395-50F6-B63B-F2F9-120209F5A6D4}"/>
              </a:ext>
            </a:extLst>
          </p:cNvPr>
          <p:cNvSpPr/>
          <p:nvPr/>
        </p:nvSpPr>
        <p:spPr>
          <a:xfrm>
            <a:off x="6807708" y="4187952"/>
            <a:ext cx="4581144" cy="5029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i="0" dirty="0" err="1">
                <a:solidFill>
                  <a:srgbClr val="1B2A2F"/>
                </a:solidFill>
                <a:latin typeface="Calibri"/>
              </a:rPr>
              <a:t>Hypothese</a:t>
            </a:r>
            <a:r>
              <a:rPr lang="de-DE" sz="1300" b="1" i="0" dirty="0">
                <a:solidFill>
                  <a:srgbClr val="1B2A2F"/>
                </a:solidFill>
                <a:latin typeface="Calibri"/>
              </a:rPr>
              <a:t> 2</a:t>
            </a:r>
            <a:r>
              <a:rPr sz="1300" b="1" i="0" dirty="0">
                <a:solidFill>
                  <a:srgbClr val="1B2A2F"/>
                </a:solidFill>
                <a:latin typeface="Calibri"/>
              </a:rPr>
              <a:t>: </a:t>
            </a:r>
            <a:r>
              <a:rPr lang="de-DE" sz="1300" b="1" i="0" dirty="0">
                <a:solidFill>
                  <a:srgbClr val="1B2A2F"/>
                </a:solidFill>
                <a:latin typeface="Calibri"/>
              </a:rPr>
              <a:t>Kleinere Wohnungen sind in zentraler Lage günstiger als große</a:t>
            </a:r>
            <a:endParaRPr sz="1300" b="1" i="0" dirty="0">
              <a:solidFill>
                <a:srgbClr val="1B2A2F"/>
              </a:solidFill>
              <a:latin typeface="Calibri"/>
            </a:endParaRPr>
          </a:p>
        </p:txBody>
      </p:sp>
      <p:sp>
        <p:nvSpPr>
          <p:cNvPr id="15" name="Ergebnis-Label">
            <a:extLst>
              <a:ext uri="{FF2B5EF4-FFF2-40B4-BE49-F238E27FC236}">
                <a16:creationId xmlns:a16="http://schemas.microsoft.com/office/drawing/2014/main" id="{48EEBE01-ED8E-FBF9-48D6-356E59D8C044}"/>
              </a:ext>
            </a:extLst>
          </p:cNvPr>
          <p:cNvSpPr/>
          <p:nvPr/>
        </p:nvSpPr>
        <p:spPr>
          <a:xfrm>
            <a:off x="6793992" y="4946904"/>
            <a:ext cx="4581144" cy="50292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i="0" dirty="0" err="1">
                <a:solidFill>
                  <a:srgbClr val="1B2A2F"/>
                </a:solidFill>
                <a:latin typeface="Calibri"/>
              </a:rPr>
              <a:t>Hypothese</a:t>
            </a:r>
            <a:r>
              <a:rPr lang="de-DE" sz="1300" b="1" i="0" dirty="0">
                <a:solidFill>
                  <a:srgbClr val="1B2A2F"/>
                </a:solidFill>
                <a:latin typeface="Calibri"/>
              </a:rPr>
              <a:t> 3</a:t>
            </a:r>
            <a:r>
              <a:rPr sz="1300" b="1" i="0" dirty="0">
                <a:solidFill>
                  <a:srgbClr val="1B2A2F"/>
                </a:solidFill>
                <a:latin typeface="Calibri"/>
              </a:rPr>
              <a:t>: </a:t>
            </a:r>
            <a:r>
              <a:rPr lang="de-DE" sz="1300" b="1" i="0" dirty="0">
                <a:solidFill>
                  <a:srgbClr val="1B2A2F"/>
                </a:solidFill>
                <a:latin typeface="Calibri"/>
              </a:rPr>
              <a:t>Aus den Daten geht hervor, dass die Preise im Innenstadtbereich steigen. Ein schneller Kauf ist von Vorteil.</a:t>
            </a:r>
            <a:endParaRPr sz="1300" b="1" i="0" dirty="0">
              <a:solidFill>
                <a:srgbClr val="1B2A2F"/>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dirty="0" err="1">
                <a:solidFill>
                  <a:srgbClr val="0B3C49"/>
                </a:solidFill>
                <a:latin typeface="Cambria"/>
              </a:rPr>
              <a:t>Grundlage</a:t>
            </a:r>
            <a:r>
              <a:rPr sz="2800" b="1" i="0" dirty="0">
                <a:solidFill>
                  <a:srgbClr val="0B3C49"/>
                </a:solidFill>
                <a:latin typeface="Cambria"/>
              </a:rPr>
              <a:t> </a:t>
            </a:r>
            <a:r>
              <a:rPr sz="2800" b="1" i="0" dirty="0" err="1">
                <a:solidFill>
                  <a:srgbClr val="0B3C49"/>
                </a:solidFill>
                <a:latin typeface="Cambria"/>
              </a:rPr>
              <a:t>sind</a:t>
            </a:r>
            <a:r>
              <a:rPr sz="2800" b="1" i="0" dirty="0">
                <a:solidFill>
                  <a:srgbClr val="0B3C49"/>
                </a:solidFill>
                <a:latin typeface="Cambria"/>
              </a:rPr>
              <a:t> </a:t>
            </a:r>
            <a:r>
              <a:rPr sz="2800" b="1" i="0" dirty="0" err="1">
                <a:solidFill>
                  <a:srgbClr val="0B3C49"/>
                </a:solidFill>
                <a:latin typeface="Cambria"/>
              </a:rPr>
              <a:t>rund</a:t>
            </a:r>
            <a:r>
              <a:rPr sz="2800" b="1" i="0" dirty="0">
                <a:solidFill>
                  <a:srgbClr val="0B3C49"/>
                </a:solidFill>
                <a:latin typeface="Cambria"/>
              </a:rPr>
              <a:t> 21.600 </a:t>
            </a:r>
            <a:r>
              <a:rPr lang="de-DE" sz="2800" b="1" i="0" dirty="0">
                <a:solidFill>
                  <a:srgbClr val="0B3C49"/>
                </a:solidFill>
                <a:latin typeface="Cambria"/>
              </a:rPr>
              <a:t>Immobilienverkäufe</a:t>
            </a:r>
            <a:r>
              <a:rPr sz="2800" b="1" i="0" dirty="0">
                <a:solidFill>
                  <a:srgbClr val="0B3C49"/>
                </a:solidFill>
                <a:latin typeface="Cambria"/>
              </a:rPr>
              <a:t> </a:t>
            </a:r>
            <a:r>
              <a:rPr sz="2800" b="1" i="0" dirty="0" err="1">
                <a:solidFill>
                  <a:srgbClr val="0B3C49"/>
                </a:solidFill>
                <a:latin typeface="Cambria"/>
              </a:rPr>
              <a:t>im</a:t>
            </a:r>
            <a:r>
              <a:rPr sz="2800" b="1" i="0" dirty="0">
                <a:solidFill>
                  <a:srgbClr val="0B3C49"/>
                </a:solidFill>
                <a:latin typeface="Cambria"/>
              </a:rPr>
              <a:t> King County</a:t>
            </a: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3</a:t>
            </a:fld>
            <a:endParaRPr lang="de-DE" sz="1000">
              <a:solidFill>
                <a:srgbClr val="7C8C91"/>
              </a:solidFill>
            </a:endParaRPr>
          </a:p>
        </p:txBody>
      </p:sp>
      <p:sp>
        <p:nvSpPr>
          <p:cNvPr id="5" name="Kennzahl"/>
          <p:cNvSpPr txBox="1"/>
          <p:nvPr/>
        </p:nvSpPr>
        <p:spPr>
          <a:xfrm>
            <a:off x="548640" y="1645920"/>
            <a:ext cx="3474720" cy="822960"/>
          </a:xfrm>
          <a:prstGeom prst="rect">
            <a:avLst/>
          </a:prstGeom>
          <a:noFill/>
        </p:spPr>
        <p:txBody>
          <a:bodyPr wrap="square" lIns="0" tIns="0" rIns="0" bIns="0" anchor="ctr">
            <a:spAutoFit/>
          </a:bodyPr>
          <a:lstStyle/>
          <a:p>
            <a:pPr algn="l"/>
            <a:r>
              <a:rPr sz="4400" b="1" i="0">
                <a:solidFill>
                  <a:srgbClr val="3A7D8C"/>
                </a:solidFill>
                <a:latin typeface="Cambria"/>
              </a:rPr>
              <a:t>≈ 21.600</a:t>
            </a:r>
          </a:p>
        </p:txBody>
      </p:sp>
      <p:sp>
        <p:nvSpPr>
          <p:cNvPr id="6" name="Kennzahl Text"/>
          <p:cNvSpPr txBox="1"/>
          <p:nvPr/>
        </p:nvSpPr>
        <p:spPr>
          <a:xfrm>
            <a:off x="548640" y="2514600"/>
            <a:ext cx="3474720" cy="640080"/>
          </a:xfrm>
          <a:prstGeom prst="rect">
            <a:avLst/>
          </a:prstGeom>
          <a:noFill/>
        </p:spPr>
        <p:txBody>
          <a:bodyPr wrap="square" lIns="0" tIns="0" rIns="0" bIns="0" anchor="t">
            <a:spAutoFit/>
          </a:bodyPr>
          <a:lstStyle/>
          <a:p>
            <a:pPr algn="l"/>
            <a:r>
              <a:rPr sz="1400" b="0" i="0">
                <a:solidFill>
                  <a:srgbClr val="1B2A2F"/>
                </a:solidFill>
                <a:latin typeface="Calibri"/>
              </a:rPr>
              <a:t>Hausverkäufe im Datensatz</a:t>
            </a:r>
          </a:p>
        </p:txBody>
      </p:sp>
      <p:sp>
        <p:nvSpPr>
          <p:cNvPr id="7" name="Kennzahl"/>
          <p:cNvSpPr txBox="1"/>
          <p:nvPr/>
        </p:nvSpPr>
        <p:spPr>
          <a:xfrm>
            <a:off x="4343400" y="1645920"/>
            <a:ext cx="3474720" cy="822960"/>
          </a:xfrm>
          <a:prstGeom prst="rect">
            <a:avLst/>
          </a:prstGeom>
          <a:noFill/>
        </p:spPr>
        <p:txBody>
          <a:bodyPr wrap="square" lIns="0" tIns="0" rIns="0" bIns="0" anchor="ctr">
            <a:spAutoFit/>
          </a:bodyPr>
          <a:lstStyle/>
          <a:p>
            <a:pPr algn="l"/>
            <a:r>
              <a:rPr sz="4400" b="1" i="0">
                <a:solidFill>
                  <a:srgbClr val="3A7D8C"/>
                </a:solidFill>
                <a:latin typeface="Cambria"/>
              </a:rPr>
              <a:t>12 Monate</a:t>
            </a:r>
          </a:p>
        </p:txBody>
      </p:sp>
      <p:sp>
        <p:nvSpPr>
          <p:cNvPr id="8" name="Kennzahl Text"/>
          <p:cNvSpPr txBox="1"/>
          <p:nvPr/>
        </p:nvSpPr>
        <p:spPr>
          <a:xfrm>
            <a:off x="4343400" y="2514600"/>
            <a:ext cx="3474720" cy="640080"/>
          </a:xfrm>
          <a:prstGeom prst="rect">
            <a:avLst/>
          </a:prstGeom>
          <a:noFill/>
        </p:spPr>
        <p:txBody>
          <a:bodyPr wrap="square" lIns="0" tIns="0" rIns="0" bIns="0" anchor="t">
            <a:spAutoFit/>
          </a:bodyPr>
          <a:lstStyle/>
          <a:p>
            <a:pPr algn="l"/>
            <a:r>
              <a:rPr sz="1400" b="0" i="0">
                <a:solidFill>
                  <a:srgbClr val="1B2A2F"/>
                </a:solidFill>
                <a:latin typeface="Calibri"/>
              </a:rPr>
              <a:t>Verkäufe von Mai 2014 bis Mai 2015</a:t>
            </a:r>
          </a:p>
        </p:txBody>
      </p:sp>
      <p:sp>
        <p:nvSpPr>
          <p:cNvPr id="11" name="Schritt Karte"/>
          <p:cNvSpPr/>
          <p:nvPr/>
        </p:nvSpPr>
        <p:spPr>
          <a:xfrm>
            <a:off x="548640" y="3840480"/>
            <a:ext cx="3566160" cy="233172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Nummer 1"/>
          <p:cNvSpPr/>
          <p:nvPr/>
        </p:nvSpPr>
        <p:spPr>
          <a:xfrm>
            <a:off x="822959" y="4069080"/>
            <a:ext cx="548640" cy="548640"/>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1</a:t>
            </a:r>
          </a:p>
        </p:txBody>
      </p:sp>
      <p:sp>
        <p:nvSpPr>
          <p:cNvPr id="13" name="TextBox 12"/>
          <p:cNvSpPr txBox="1"/>
          <p:nvPr/>
        </p:nvSpPr>
        <p:spPr>
          <a:xfrm>
            <a:off x="1508760" y="4069080"/>
            <a:ext cx="2468880" cy="548640"/>
          </a:xfrm>
          <a:prstGeom prst="rect">
            <a:avLst/>
          </a:prstGeom>
          <a:noFill/>
        </p:spPr>
        <p:txBody>
          <a:bodyPr wrap="square" lIns="0" tIns="0" rIns="0" bIns="0" anchor="ctr">
            <a:spAutoFit/>
          </a:bodyPr>
          <a:lstStyle/>
          <a:p>
            <a:pPr algn="l"/>
            <a:r>
              <a:rPr sz="1800" b="1" i="0">
                <a:solidFill>
                  <a:srgbClr val="0B3C49"/>
                </a:solidFill>
                <a:latin typeface="Calibri"/>
              </a:rPr>
              <a:t>Daten bereinigen</a:t>
            </a:r>
          </a:p>
        </p:txBody>
      </p:sp>
      <p:sp>
        <p:nvSpPr>
          <p:cNvPr id="14" name="TextBox 13"/>
          <p:cNvSpPr txBox="1"/>
          <p:nvPr/>
        </p:nvSpPr>
        <p:spPr>
          <a:xfrm>
            <a:off x="822959" y="4846320"/>
            <a:ext cx="3063240" cy="1188720"/>
          </a:xfrm>
          <a:prstGeom prst="rect">
            <a:avLst/>
          </a:prstGeom>
          <a:noFill/>
        </p:spPr>
        <p:txBody>
          <a:bodyPr wrap="square" lIns="0" tIns="0" rIns="0" bIns="0" anchor="t">
            <a:spAutoFit/>
          </a:bodyPr>
          <a:lstStyle/>
          <a:p>
            <a:pPr algn="l"/>
            <a:r>
              <a:rPr sz="1400" b="0" i="0">
                <a:solidFill>
                  <a:srgbClr val="1B2A2F"/>
                </a:solidFill>
                <a:latin typeface="Calibri"/>
              </a:rPr>
              <a:t>Fehlende Werte füllen, Einheiten in m² umrechnen, offensichtliche Fehler korrigieren</a:t>
            </a:r>
          </a:p>
        </p:txBody>
      </p:sp>
      <p:sp>
        <p:nvSpPr>
          <p:cNvPr id="15" name="Schritt Karte"/>
          <p:cNvSpPr/>
          <p:nvPr/>
        </p:nvSpPr>
        <p:spPr>
          <a:xfrm>
            <a:off x="4343400" y="3840480"/>
            <a:ext cx="3566160" cy="233172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ummer 2"/>
          <p:cNvSpPr/>
          <p:nvPr/>
        </p:nvSpPr>
        <p:spPr>
          <a:xfrm>
            <a:off x="4617720" y="4069080"/>
            <a:ext cx="548640" cy="548640"/>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2</a:t>
            </a:r>
          </a:p>
        </p:txBody>
      </p:sp>
      <p:sp>
        <p:nvSpPr>
          <p:cNvPr id="17" name="TextBox 16"/>
          <p:cNvSpPr txBox="1"/>
          <p:nvPr/>
        </p:nvSpPr>
        <p:spPr>
          <a:xfrm>
            <a:off x="5303520" y="4069080"/>
            <a:ext cx="2468880" cy="548640"/>
          </a:xfrm>
          <a:prstGeom prst="rect">
            <a:avLst/>
          </a:prstGeom>
          <a:noFill/>
        </p:spPr>
        <p:txBody>
          <a:bodyPr wrap="square" lIns="0" tIns="0" rIns="0" bIns="0" anchor="ctr">
            <a:spAutoFit/>
          </a:bodyPr>
          <a:lstStyle/>
          <a:p>
            <a:pPr algn="l"/>
            <a:r>
              <a:rPr sz="1800" b="1" i="0">
                <a:solidFill>
                  <a:srgbClr val="0B3C49"/>
                </a:solidFill>
                <a:latin typeface="Calibri"/>
              </a:rPr>
              <a:t>Kundin eingrenzen</a:t>
            </a:r>
          </a:p>
        </p:txBody>
      </p:sp>
      <p:sp>
        <p:nvSpPr>
          <p:cNvPr id="18" name="TextBox 17"/>
          <p:cNvSpPr txBox="1"/>
          <p:nvPr/>
        </p:nvSpPr>
        <p:spPr>
          <a:xfrm>
            <a:off x="4617720" y="4846320"/>
            <a:ext cx="3063240" cy="1188720"/>
          </a:xfrm>
          <a:prstGeom prst="rect">
            <a:avLst/>
          </a:prstGeom>
          <a:noFill/>
        </p:spPr>
        <p:txBody>
          <a:bodyPr wrap="square" lIns="0" tIns="0" rIns="0" bIns="0" anchor="t">
            <a:spAutoFit/>
          </a:bodyPr>
          <a:lstStyle/>
          <a:p>
            <a:pPr algn="l"/>
            <a:r>
              <a:rPr sz="1400" b="0" i="0">
                <a:solidFill>
                  <a:srgbClr val="1B2A2F"/>
                </a:solidFill>
                <a:latin typeface="Calibri"/>
              </a:rPr>
              <a:t>Zentral, mittlere Preisklasse, 2 bis 3 Zimmer, 1 bis 2 Bäder</a:t>
            </a:r>
          </a:p>
        </p:txBody>
      </p:sp>
      <p:sp>
        <p:nvSpPr>
          <p:cNvPr id="19" name="Schritt Karte"/>
          <p:cNvSpPr/>
          <p:nvPr/>
        </p:nvSpPr>
        <p:spPr>
          <a:xfrm>
            <a:off x="8138160" y="3840480"/>
            <a:ext cx="3566160" cy="233172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ummer 3"/>
          <p:cNvSpPr/>
          <p:nvPr/>
        </p:nvSpPr>
        <p:spPr>
          <a:xfrm>
            <a:off x="8412480" y="4069080"/>
            <a:ext cx="548640" cy="548640"/>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3</a:t>
            </a:r>
          </a:p>
        </p:txBody>
      </p:sp>
      <p:sp>
        <p:nvSpPr>
          <p:cNvPr id="21" name="TextBox 20"/>
          <p:cNvSpPr txBox="1"/>
          <p:nvPr/>
        </p:nvSpPr>
        <p:spPr>
          <a:xfrm>
            <a:off x="9098280" y="4069080"/>
            <a:ext cx="2468880" cy="548640"/>
          </a:xfrm>
          <a:prstGeom prst="rect">
            <a:avLst/>
          </a:prstGeom>
          <a:noFill/>
        </p:spPr>
        <p:txBody>
          <a:bodyPr wrap="square" lIns="0" tIns="0" rIns="0" bIns="0" anchor="ctr">
            <a:spAutoFit/>
          </a:bodyPr>
          <a:lstStyle/>
          <a:p>
            <a:pPr algn="l"/>
            <a:r>
              <a:rPr sz="1800" b="1" i="0">
                <a:solidFill>
                  <a:srgbClr val="0B3C49"/>
                </a:solidFill>
                <a:latin typeface="Calibri"/>
              </a:rPr>
              <a:t>Hypothesen prüfen</a:t>
            </a:r>
          </a:p>
        </p:txBody>
      </p:sp>
      <p:sp>
        <p:nvSpPr>
          <p:cNvPr id="22" name="TextBox 21"/>
          <p:cNvSpPr txBox="1"/>
          <p:nvPr/>
        </p:nvSpPr>
        <p:spPr>
          <a:xfrm>
            <a:off x="8412480" y="4846320"/>
            <a:ext cx="3063240" cy="1188720"/>
          </a:xfrm>
          <a:prstGeom prst="rect">
            <a:avLst/>
          </a:prstGeom>
          <a:noFill/>
        </p:spPr>
        <p:txBody>
          <a:bodyPr wrap="square" lIns="0" tIns="0" rIns="0" bIns="0" anchor="t">
            <a:spAutoFit/>
          </a:bodyPr>
          <a:lstStyle/>
          <a:p>
            <a:pPr algn="l"/>
            <a:r>
              <a:rPr sz="1400" b="0" i="0">
                <a:solidFill>
                  <a:srgbClr val="1B2A2F"/>
                </a:solidFill>
                <a:latin typeface="Calibri"/>
              </a:rPr>
              <a:t>Lage, Größe und Ausstattung, Zeitpunkt mit Grafiken und Kennzahlen</a:t>
            </a:r>
          </a:p>
        </p:txBody>
      </p:sp>
      <p:pic>
        <p:nvPicPr>
          <p:cNvPr id="24" name="Grafik 23">
            <a:extLst>
              <a:ext uri="{FF2B5EF4-FFF2-40B4-BE49-F238E27FC236}">
                <a16:creationId xmlns:a16="http://schemas.microsoft.com/office/drawing/2014/main" id="{14E031B6-8098-25AD-C88C-99FFC90A0657}"/>
              </a:ext>
            </a:extLst>
          </p:cNvPr>
          <p:cNvPicPr>
            <a:picLocks noChangeAspect="1"/>
          </p:cNvPicPr>
          <p:nvPr/>
        </p:nvPicPr>
        <p:blipFill>
          <a:blip r:embed="rId3"/>
          <a:stretch>
            <a:fillRect/>
          </a:stretch>
        </p:blipFill>
        <p:spPr>
          <a:xfrm>
            <a:off x="8260082" y="1026847"/>
            <a:ext cx="3307078" cy="25850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a:solidFill>
                  <a:srgbClr val="0B3C49"/>
                </a:solidFill>
                <a:latin typeface="Cambria"/>
              </a:rPr>
              <a:t>Was „zentral“ und „mittlere Preisklasse“ für Nicole bedeutet</a:t>
            </a: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4</a:t>
            </a:fld>
            <a:endParaRPr lang="de-DE" sz="1000">
              <a:solidFill>
                <a:srgbClr val="7C8C91"/>
              </a:solidFill>
            </a:endParaRPr>
          </a:p>
        </p:txBody>
      </p:sp>
      <p:sp>
        <p:nvSpPr>
          <p:cNvPr id="5" name="Definition Karte"/>
          <p:cNvSpPr/>
          <p:nvPr/>
        </p:nvSpPr>
        <p:spPr>
          <a:xfrm>
            <a:off x="548640" y="1691640"/>
            <a:ext cx="5120640" cy="132588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51076"/>
            <a:ext cx="4572000" cy="365760"/>
          </a:xfrm>
          <a:prstGeom prst="rect">
            <a:avLst/>
          </a:prstGeom>
          <a:noFill/>
        </p:spPr>
        <p:txBody>
          <a:bodyPr wrap="square" lIns="0" tIns="0" rIns="0" bIns="0" anchor="t">
            <a:spAutoFit/>
          </a:bodyPr>
          <a:lstStyle/>
          <a:p>
            <a:pPr algn="l"/>
            <a:r>
              <a:rPr sz="1800" b="1" i="0" dirty="0" err="1">
                <a:solidFill>
                  <a:srgbClr val="0B3C49"/>
                </a:solidFill>
                <a:latin typeface="Calibri"/>
              </a:rPr>
              <a:t>Zentral</a:t>
            </a:r>
            <a:endParaRPr sz="1800" b="1" i="0" dirty="0">
              <a:solidFill>
                <a:srgbClr val="0B3C49"/>
              </a:solidFill>
              <a:latin typeface="Calibri"/>
            </a:endParaRPr>
          </a:p>
        </p:txBody>
      </p:sp>
      <p:sp>
        <p:nvSpPr>
          <p:cNvPr id="7" name="TextBox 6"/>
          <p:cNvSpPr txBox="1"/>
          <p:nvPr/>
        </p:nvSpPr>
        <p:spPr>
          <a:xfrm>
            <a:off x="822960" y="2087166"/>
            <a:ext cx="4572000" cy="861774"/>
          </a:xfrm>
          <a:prstGeom prst="rect">
            <a:avLst/>
          </a:prstGeom>
          <a:noFill/>
        </p:spPr>
        <p:txBody>
          <a:bodyPr wrap="square" lIns="0" tIns="0" rIns="0" bIns="0" anchor="t">
            <a:spAutoFit/>
          </a:bodyPr>
          <a:lstStyle/>
          <a:p>
            <a:pPr marL="285750" indent="-285750" algn="l">
              <a:buFont typeface="Arial" panose="020B0604020202020204" pitchFamily="34" charset="0"/>
              <a:buChar char="•"/>
            </a:pPr>
            <a:r>
              <a:rPr lang="de-DE" sz="1400" b="0" i="0" dirty="0">
                <a:solidFill>
                  <a:srgbClr val="1B2A2F"/>
                </a:solidFill>
                <a:latin typeface="Calibri"/>
              </a:rPr>
              <a:t>Recherche zu beliebten Stadtvierteln Seattles (</a:t>
            </a:r>
            <a:r>
              <a:rPr lang="de-DE" sz="1400" b="0" i="0" dirty="0" err="1">
                <a:solidFill>
                  <a:srgbClr val="1B2A2F"/>
                </a:solidFill>
                <a:latin typeface="Calibri"/>
              </a:rPr>
              <a:t>Pioneer</a:t>
            </a:r>
            <a:r>
              <a:rPr lang="de-DE" sz="1400" b="0" i="0" dirty="0">
                <a:solidFill>
                  <a:srgbClr val="1B2A2F"/>
                </a:solidFill>
                <a:latin typeface="Calibri"/>
              </a:rPr>
              <a:t> Square, </a:t>
            </a:r>
            <a:r>
              <a:rPr lang="de-DE" sz="1400" b="0" i="0" dirty="0" err="1">
                <a:solidFill>
                  <a:srgbClr val="1B2A2F"/>
                </a:solidFill>
                <a:latin typeface="Calibri"/>
              </a:rPr>
              <a:t>Belltown</a:t>
            </a:r>
            <a:r>
              <a:rPr lang="de-DE" sz="1400" b="0" i="0" dirty="0">
                <a:solidFill>
                  <a:srgbClr val="1B2A2F"/>
                </a:solidFill>
                <a:latin typeface="Calibri"/>
              </a:rPr>
              <a:t>, Capitol Hill, </a:t>
            </a:r>
            <a:r>
              <a:rPr lang="de-DE" sz="1400" b="0" i="0" dirty="0" err="1">
                <a:solidFill>
                  <a:srgbClr val="1B2A2F"/>
                </a:solidFill>
                <a:latin typeface="Calibri"/>
              </a:rPr>
              <a:t>Femont</a:t>
            </a:r>
            <a:r>
              <a:rPr lang="de-DE" sz="1400" b="0" i="0" dirty="0">
                <a:solidFill>
                  <a:srgbClr val="1B2A2F"/>
                </a:solidFill>
                <a:latin typeface="Calibri"/>
              </a:rPr>
              <a:t> Ballard</a:t>
            </a:r>
          </a:p>
          <a:p>
            <a:pPr marL="285750" indent="-285750" algn="l">
              <a:buFont typeface="Arial" panose="020B0604020202020204" pitchFamily="34" charset="0"/>
              <a:buChar char="•"/>
            </a:pPr>
            <a:r>
              <a:rPr lang="de-DE" sz="1400" dirty="0">
                <a:solidFill>
                  <a:srgbClr val="1B2A2F"/>
                </a:solidFill>
                <a:latin typeface="Calibri"/>
              </a:rPr>
              <a:t>Renton und </a:t>
            </a:r>
            <a:r>
              <a:rPr lang="de-DE" sz="1400" dirty="0" err="1">
                <a:solidFill>
                  <a:srgbClr val="1B2A2F"/>
                </a:solidFill>
                <a:latin typeface="Calibri"/>
              </a:rPr>
              <a:t>Burien</a:t>
            </a:r>
            <a:r>
              <a:rPr lang="de-DE" sz="1400" dirty="0">
                <a:solidFill>
                  <a:srgbClr val="1B2A2F"/>
                </a:solidFill>
                <a:latin typeface="Calibri"/>
              </a:rPr>
              <a:t> als Alternativen (kleinere Städte)</a:t>
            </a:r>
          </a:p>
          <a:p>
            <a:pPr marL="285750" indent="-285750" algn="l">
              <a:buFont typeface="Arial" panose="020B0604020202020204" pitchFamily="34" charset="0"/>
              <a:buChar char="•"/>
            </a:pPr>
            <a:r>
              <a:rPr lang="de-DE" sz="1400" b="0" i="0" dirty="0">
                <a:solidFill>
                  <a:srgbClr val="1B2A2F"/>
                </a:solidFill>
                <a:latin typeface="Calibri"/>
              </a:rPr>
              <a:t>Häuser im Umkreis von 5km um diese „HUBS“</a:t>
            </a:r>
            <a:endParaRPr sz="1400" b="0" i="0" dirty="0">
              <a:solidFill>
                <a:srgbClr val="1B2A2F"/>
              </a:solidFill>
              <a:latin typeface="Calibri"/>
            </a:endParaRPr>
          </a:p>
        </p:txBody>
      </p:sp>
      <p:sp>
        <p:nvSpPr>
          <p:cNvPr id="8" name="Definition Karte"/>
          <p:cNvSpPr/>
          <p:nvPr/>
        </p:nvSpPr>
        <p:spPr>
          <a:xfrm>
            <a:off x="548640" y="3154680"/>
            <a:ext cx="5120640" cy="132588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291840"/>
            <a:ext cx="4572000" cy="365760"/>
          </a:xfrm>
          <a:prstGeom prst="rect">
            <a:avLst/>
          </a:prstGeom>
          <a:noFill/>
        </p:spPr>
        <p:txBody>
          <a:bodyPr wrap="square" lIns="0" tIns="0" rIns="0" bIns="0" anchor="t">
            <a:spAutoFit/>
          </a:bodyPr>
          <a:lstStyle/>
          <a:p>
            <a:pPr algn="l"/>
            <a:r>
              <a:rPr sz="1800" b="1" i="0">
                <a:solidFill>
                  <a:srgbClr val="0B3C49"/>
                </a:solidFill>
                <a:latin typeface="Calibri"/>
              </a:rPr>
              <a:t>Mittlere Preisklasse</a:t>
            </a:r>
          </a:p>
        </p:txBody>
      </p:sp>
      <p:sp>
        <p:nvSpPr>
          <p:cNvPr id="10" name="TextBox 9"/>
          <p:cNvSpPr txBox="1"/>
          <p:nvPr/>
        </p:nvSpPr>
        <p:spPr>
          <a:xfrm>
            <a:off x="822960" y="3703320"/>
            <a:ext cx="4572000" cy="646331"/>
          </a:xfrm>
          <a:prstGeom prst="rect">
            <a:avLst/>
          </a:prstGeom>
          <a:noFill/>
        </p:spPr>
        <p:txBody>
          <a:bodyPr wrap="square" lIns="0" tIns="0" rIns="0" bIns="0" anchor="t">
            <a:spAutoFit/>
          </a:bodyPr>
          <a:lstStyle/>
          <a:p>
            <a:pPr algn="l"/>
            <a:r>
              <a:rPr sz="1400" b="0" i="0" dirty="0">
                <a:solidFill>
                  <a:srgbClr val="1B2A2F"/>
                </a:solidFill>
                <a:latin typeface="Calibri"/>
              </a:rPr>
              <a:t>Die </a:t>
            </a:r>
            <a:r>
              <a:rPr sz="1400" b="0" i="0" dirty="0" err="1">
                <a:solidFill>
                  <a:srgbClr val="1B2A2F"/>
                </a:solidFill>
                <a:latin typeface="Calibri"/>
              </a:rPr>
              <a:t>mittleren</a:t>
            </a:r>
            <a:r>
              <a:rPr sz="1400" b="0" i="0" dirty="0">
                <a:solidFill>
                  <a:srgbClr val="1B2A2F"/>
                </a:solidFill>
                <a:latin typeface="Calibri"/>
              </a:rPr>
              <a:t> 50 % der </a:t>
            </a:r>
            <a:r>
              <a:rPr sz="1400" b="0" i="0" dirty="0" err="1">
                <a:solidFill>
                  <a:srgbClr val="1B2A2F"/>
                </a:solidFill>
                <a:latin typeface="Calibri"/>
              </a:rPr>
              <a:t>Verkaufspreise</a:t>
            </a:r>
            <a:r>
              <a:rPr sz="1400" b="0" i="0" dirty="0">
                <a:solidFill>
                  <a:srgbClr val="1B2A2F"/>
                </a:solidFill>
                <a:latin typeface="Calibri"/>
              </a:rPr>
              <a:t> </a:t>
            </a:r>
            <a:r>
              <a:rPr sz="1400" b="0" i="0" dirty="0" err="1">
                <a:solidFill>
                  <a:srgbClr val="1B2A2F"/>
                </a:solidFill>
                <a:latin typeface="Calibri"/>
              </a:rPr>
              <a:t>im</a:t>
            </a:r>
            <a:r>
              <a:rPr sz="1400" b="0" i="0" dirty="0">
                <a:solidFill>
                  <a:srgbClr val="1B2A2F"/>
                </a:solidFill>
                <a:latin typeface="Calibri"/>
              </a:rPr>
              <a:t> County</a:t>
            </a:r>
            <a:r>
              <a:rPr lang="de-DE" sz="1400" b="0" i="0" dirty="0">
                <a:solidFill>
                  <a:srgbClr val="1B2A2F"/>
                </a:solidFill>
                <a:latin typeface="Calibri"/>
              </a:rPr>
              <a:t> für passende Häuser</a:t>
            </a:r>
            <a:r>
              <a:rPr sz="1400" b="0" i="0" dirty="0">
                <a:solidFill>
                  <a:srgbClr val="1B2A2F"/>
                </a:solidFill>
                <a:latin typeface="Calibri"/>
              </a:rPr>
              <a:t>.</a:t>
            </a:r>
            <a:endParaRPr lang="de-DE" sz="1400" dirty="0">
              <a:solidFill>
                <a:srgbClr val="1B2A2F"/>
              </a:solidFill>
              <a:latin typeface="Calibri"/>
            </a:endParaRPr>
          </a:p>
          <a:p>
            <a:pPr algn="l"/>
            <a:r>
              <a:rPr lang="de-DE" sz="1400" dirty="0">
                <a:solidFill>
                  <a:srgbClr val="1B2A2F"/>
                </a:solidFill>
                <a:latin typeface="Calibri"/>
              </a:rPr>
              <a:t>Ca. 289.000 – 545. 000 $</a:t>
            </a:r>
          </a:p>
        </p:txBody>
      </p:sp>
      <p:sp>
        <p:nvSpPr>
          <p:cNvPr id="11" name="Definition Karte"/>
          <p:cNvSpPr/>
          <p:nvPr/>
        </p:nvSpPr>
        <p:spPr>
          <a:xfrm>
            <a:off x="548640" y="4617720"/>
            <a:ext cx="5120640" cy="132588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4754880"/>
            <a:ext cx="4572000" cy="365760"/>
          </a:xfrm>
          <a:prstGeom prst="rect">
            <a:avLst/>
          </a:prstGeom>
          <a:noFill/>
        </p:spPr>
        <p:txBody>
          <a:bodyPr wrap="square" lIns="0" tIns="0" rIns="0" bIns="0" anchor="t">
            <a:spAutoFit/>
          </a:bodyPr>
          <a:lstStyle/>
          <a:p>
            <a:pPr algn="l"/>
            <a:r>
              <a:rPr sz="1800" b="1" i="0">
                <a:solidFill>
                  <a:srgbClr val="0B3C49"/>
                </a:solidFill>
                <a:latin typeface="Calibri"/>
              </a:rPr>
              <a:t>Passendes Haus</a:t>
            </a:r>
          </a:p>
        </p:txBody>
      </p:sp>
      <p:sp>
        <p:nvSpPr>
          <p:cNvPr id="13" name="TextBox 12"/>
          <p:cNvSpPr txBox="1"/>
          <p:nvPr/>
        </p:nvSpPr>
        <p:spPr>
          <a:xfrm>
            <a:off x="822960" y="5166360"/>
            <a:ext cx="4572000" cy="731520"/>
          </a:xfrm>
          <a:prstGeom prst="rect">
            <a:avLst/>
          </a:prstGeom>
          <a:noFill/>
        </p:spPr>
        <p:txBody>
          <a:bodyPr wrap="square" lIns="0" tIns="0" rIns="0" bIns="0" anchor="t">
            <a:spAutoFit/>
          </a:bodyPr>
          <a:lstStyle/>
          <a:p>
            <a:pPr algn="l"/>
            <a:r>
              <a:rPr sz="1400" b="0" i="0" dirty="0">
                <a:solidFill>
                  <a:srgbClr val="1B2A2F"/>
                </a:solidFill>
                <a:latin typeface="Calibri"/>
              </a:rPr>
              <a:t>2 bis 3 Zimmer, 1 bis 2 </a:t>
            </a:r>
            <a:r>
              <a:rPr sz="1400" b="0" i="0" dirty="0" err="1">
                <a:solidFill>
                  <a:srgbClr val="1B2A2F"/>
                </a:solidFill>
                <a:latin typeface="Calibri"/>
              </a:rPr>
              <a:t>Bäder</a:t>
            </a:r>
            <a:r>
              <a:rPr sz="1400" b="0" i="0" dirty="0">
                <a:solidFill>
                  <a:srgbClr val="1B2A2F"/>
                </a:solidFill>
                <a:latin typeface="Calibri"/>
              </a:rPr>
              <a:t>, </a:t>
            </a:r>
            <a:r>
              <a:rPr sz="1400" b="0" i="0" dirty="0" err="1">
                <a:solidFill>
                  <a:srgbClr val="1B2A2F"/>
                </a:solidFill>
                <a:latin typeface="Calibri"/>
              </a:rPr>
              <a:t>kein</a:t>
            </a:r>
            <a:r>
              <a:rPr sz="1400" b="0" i="0" dirty="0">
                <a:solidFill>
                  <a:srgbClr val="1B2A2F"/>
                </a:solidFill>
                <a:latin typeface="Calibri"/>
              </a:rPr>
              <a:t> </a:t>
            </a:r>
            <a:r>
              <a:rPr sz="1400" b="0" i="0" dirty="0" err="1">
                <a:solidFill>
                  <a:srgbClr val="1B2A2F"/>
                </a:solidFill>
                <a:latin typeface="Calibri"/>
              </a:rPr>
              <a:t>Seegrundstück</a:t>
            </a:r>
            <a:r>
              <a:rPr sz="1400" b="0" i="0" dirty="0">
                <a:solidFill>
                  <a:srgbClr val="1B2A2F"/>
                </a:solidFill>
                <a:latin typeface="Calibri"/>
              </a:rPr>
              <a:t>.</a:t>
            </a:r>
          </a:p>
        </p:txBody>
      </p:sp>
      <p:pic>
        <p:nvPicPr>
          <p:cNvPr id="19" name="Grafik 18">
            <a:extLst>
              <a:ext uri="{FF2B5EF4-FFF2-40B4-BE49-F238E27FC236}">
                <a16:creationId xmlns:a16="http://schemas.microsoft.com/office/drawing/2014/main" id="{EE18BDFA-5FCC-DD7E-D79F-F488E7D68CD2}"/>
              </a:ext>
            </a:extLst>
          </p:cNvPr>
          <p:cNvPicPr>
            <a:picLocks noChangeAspect="1"/>
          </p:cNvPicPr>
          <p:nvPr/>
        </p:nvPicPr>
        <p:blipFill>
          <a:blip r:embed="rId3"/>
          <a:stretch>
            <a:fillRect/>
          </a:stretch>
        </p:blipFill>
        <p:spPr>
          <a:xfrm>
            <a:off x="6043843" y="2249424"/>
            <a:ext cx="5599517" cy="30358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dirty="0">
                <a:solidFill>
                  <a:srgbClr val="0B3C49"/>
                </a:solidFill>
                <a:latin typeface="Cambria"/>
              </a:rPr>
              <a:t>Wo? </a:t>
            </a:r>
            <a:r>
              <a:rPr lang="de-DE" sz="2800" b="1" i="0" dirty="0">
                <a:solidFill>
                  <a:srgbClr val="0B3C49"/>
                </a:solidFill>
                <a:latin typeface="Cambria"/>
              </a:rPr>
              <a:t>Kompromisse bei der Entfernung können sich lohnen.</a:t>
            </a:r>
            <a:endParaRPr sz="2800" b="1" i="0" dirty="0">
              <a:solidFill>
                <a:srgbClr val="0B3C49"/>
              </a:solidFill>
              <a:latin typeface="Cambria"/>
            </a:endParaRP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5</a:t>
            </a:fld>
            <a:endParaRPr lang="de-DE" sz="1000">
              <a:solidFill>
                <a:srgbClr val="7C8C91"/>
              </a:solidFill>
            </a:endParaRPr>
          </a:p>
        </p:txBody>
      </p:sp>
      <p:sp>
        <p:nvSpPr>
          <p:cNvPr id="5" name="Ergebnis-Label"/>
          <p:cNvSpPr/>
          <p:nvPr/>
        </p:nvSpPr>
        <p:spPr>
          <a:xfrm>
            <a:off x="548640" y="1215926"/>
            <a:ext cx="4288536" cy="677108"/>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dirty="0" err="1">
                <a:solidFill>
                  <a:srgbClr val="1B2A2F"/>
                </a:solidFill>
                <a:latin typeface="Calibri"/>
              </a:rPr>
              <a:t>Hypothese</a:t>
            </a:r>
            <a:r>
              <a:rPr lang="de-DE" sz="1600" b="1" i="0" dirty="0">
                <a:solidFill>
                  <a:srgbClr val="1B2A2F"/>
                </a:solidFill>
                <a:latin typeface="Calibri"/>
              </a:rPr>
              <a:t> 1</a:t>
            </a:r>
            <a:r>
              <a:rPr sz="1600" b="1" i="0" dirty="0">
                <a:solidFill>
                  <a:srgbClr val="1B2A2F"/>
                </a:solidFill>
                <a:latin typeface="Calibri"/>
              </a:rPr>
              <a:t>: </a:t>
            </a:r>
            <a:r>
              <a:rPr sz="1600" b="1" i="0" dirty="0" err="1">
                <a:solidFill>
                  <a:srgbClr val="1B2A2F"/>
                </a:solidFill>
                <a:latin typeface="Calibri"/>
              </a:rPr>
              <a:t>teilweise</a:t>
            </a:r>
            <a:r>
              <a:rPr sz="1600" b="1" i="0" dirty="0">
                <a:solidFill>
                  <a:srgbClr val="1B2A2F"/>
                </a:solidFill>
                <a:latin typeface="Calibri"/>
              </a:rPr>
              <a:t> </a:t>
            </a:r>
            <a:r>
              <a:rPr sz="1600" b="1" i="0" dirty="0" err="1">
                <a:solidFill>
                  <a:srgbClr val="1B2A2F"/>
                </a:solidFill>
                <a:latin typeface="Calibri"/>
              </a:rPr>
              <a:t>bestätigt</a:t>
            </a:r>
            <a:endParaRPr sz="1600" b="1" i="0" dirty="0">
              <a:solidFill>
                <a:srgbClr val="1B2A2F"/>
              </a:solidFill>
              <a:latin typeface="Calibri"/>
            </a:endParaRPr>
          </a:p>
        </p:txBody>
      </p:sp>
      <p:sp>
        <p:nvSpPr>
          <p:cNvPr id="6" name="Kennzahl"/>
          <p:cNvSpPr txBox="1"/>
          <p:nvPr/>
        </p:nvSpPr>
        <p:spPr>
          <a:xfrm>
            <a:off x="548640" y="2321898"/>
            <a:ext cx="5120640" cy="677108"/>
          </a:xfrm>
          <a:prstGeom prst="rect">
            <a:avLst/>
          </a:prstGeom>
          <a:noFill/>
        </p:spPr>
        <p:txBody>
          <a:bodyPr wrap="square" lIns="0" tIns="0" rIns="0" bIns="0" anchor="ctr">
            <a:spAutoFit/>
          </a:bodyPr>
          <a:lstStyle/>
          <a:p>
            <a:pPr algn="l"/>
            <a:r>
              <a:rPr sz="4400" b="1" i="0" dirty="0">
                <a:solidFill>
                  <a:srgbClr val="3A7D8C"/>
                </a:solidFill>
                <a:latin typeface="Cambria"/>
              </a:rPr>
              <a:t>−0,3</a:t>
            </a:r>
            <a:r>
              <a:rPr lang="de-DE" sz="4400" b="1" i="0" dirty="0">
                <a:solidFill>
                  <a:srgbClr val="3A7D8C"/>
                </a:solidFill>
                <a:latin typeface="Cambria"/>
              </a:rPr>
              <a:t>0</a:t>
            </a:r>
            <a:endParaRPr sz="4400" b="1" i="0" dirty="0">
              <a:solidFill>
                <a:srgbClr val="3A7D8C"/>
              </a:solidFill>
              <a:latin typeface="Cambria"/>
            </a:endParaRPr>
          </a:p>
        </p:txBody>
      </p:sp>
      <p:sp>
        <p:nvSpPr>
          <p:cNvPr id="7" name="Kennzahl Text"/>
          <p:cNvSpPr txBox="1"/>
          <p:nvPr/>
        </p:nvSpPr>
        <p:spPr>
          <a:xfrm>
            <a:off x="548640" y="3154680"/>
            <a:ext cx="5120640" cy="640080"/>
          </a:xfrm>
          <a:prstGeom prst="rect">
            <a:avLst/>
          </a:prstGeom>
          <a:noFill/>
        </p:spPr>
        <p:txBody>
          <a:bodyPr wrap="square" lIns="0" tIns="0" rIns="0" bIns="0" anchor="t">
            <a:spAutoFit/>
          </a:bodyPr>
          <a:lstStyle/>
          <a:p>
            <a:pPr algn="l"/>
            <a:r>
              <a:rPr sz="1400" b="0" i="0">
                <a:solidFill>
                  <a:srgbClr val="1B2A2F"/>
                </a:solidFill>
                <a:latin typeface="Calibri"/>
              </a:rPr>
              <a:t>Zusammenhang zwischen Entfernung und Preis pro m² (Korrelation, Umkreis bis 5 km)</a:t>
            </a:r>
          </a:p>
        </p:txBody>
      </p:sp>
      <p:sp>
        <p:nvSpPr>
          <p:cNvPr id="8" name="Kennzahl"/>
          <p:cNvSpPr txBox="1"/>
          <p:nvPr/>
        </p:nvSpPr>
        <p:spPr>
          <a:xfrm>
            <a:off x="548640" y="4059258"/>
            <a:ext cx="5120640" cy="677108"/>
          </a:xfrm>
          <a:prstGeom prst="rect">
            <a:avLst/>
          </a:prstGeom>
          <a:noFill/>
        </p:spPr>
        <p:txBody>
          <a:bodyPr wrap="square" lIns="0" tIns="0" rIns="0" bIns="0" anchor="ctr">
            <a:spAutoFit/>
          </a:bodyPr>
          <a:lstStyle/>
          <a:p>
            <a:pPr algn="l"/>
            <a:r>
              <a:rPr sz="4400" b="1" i="0" dirty="0">
                <a:solidFill>
                  <a:srgbClr val="3A7D8C"/>
                </a:solidFill>
                <a:latin typeface="Cambria"/>
              </a:rPr>
              <a:t>−0,</a:t>
            </a:r>
            <a:r>
              <a:rPr lang="de-DE" sz="4400" b="1" i="0" dirty="0">
                <a:solidFill>
                  <a:srgbClr val="3A7D8C"/>
                </a:solidFill>
                <a:latin typeface="Cambria"/>
              </a:rPr>
              <a:t>26</a:t>
            </a:r>
            <a:endParaRPr sz="4400" b="1" i="0" dirty="0">
              <a:solidFill>
                <a:srgbClr val="3A7D8C"/>
              </a:solidFill>
              <a:latin typeface="Cambria"/>
            </a:endParaRPr>
          </a:p>
        </p:txBody>
      </p:sp>
      <p:sp>
        <p:nvSpPr>
          <p:cNvPr id="9" name="Kennzahl Text"/>
          <p:cNvSpPr txBox="1"/>
          <p:nvPr/>
        </p:nvSpPr>
        <p:spPr>
          <a:xfrm>
            <a:off x="548640" y="4892040"/>
            <a:ext cx="5120640" cy="640080"/>
          </a:xfrm>
          <a:prstGeom prst="rect">
            <a:avLst/>
          </a:prstGeom>
          <a:noFill/>
        </p:spPr>
        <p:txBody>
          <a:bodyPr wrap="square" lIns="0" tIns="0" rIns="0" bIns="0" anchor="t">
            <a:spAutoFit/>
          </a:bodyPr>
          <a:lstStyle/>
          <a:p>
            <a:pPr algn="l"/>
            <a:r>
              <a:rPr sz="1400" b="0" i="0">
                <a:solidFill>
                  <a:srgbClr val="1B2A2F"/>
                </a:solidFill>
                <a:latin typeface="Calibri"/>
              </a:rPr>
              <a:t>Zusammenhang zwischen Entfernung und Gesamtpreis</a:t>
            </a:r>
          </a:p>
        </p:txBody>
      </p:sp>
      <p:sp>
        <p:nvSpPr>
          <p:cNvPr id="10" name="TextBox 9"/>
          <p:cNvSpPr txBox="1"/>
          <p:nvPr/>
        </p:nvSpPr>
        <p:spPr>
          <a:xfrm>
            <a:off x="484632" y="5504914"/>
            <a:ext cx="5120640" cy="640080"/>
          </a:xfrm>
          <a:prstGeom prst="rect">
            <a:avLst/>
          </a:prstGeom>
          <a:noFill/>
        </p:spPr>
        <p:txBody>
          <a:bodyPr wrap="square" lIns="0" tIns="0" rIns="0" bIns="0" anchor="t">
            <a:spAutoFit/>
          </a:bodyPr>
          <a:lstStyle/>
          <a:p>
            <a:pPr algn="l"/>
            <a:r>
              <a:rPr sz="1400" b="0" i="0" dirty="0">
                <a:solidFill>
                  <a:srgbClr val="1B2A2F"/>
                </a:solidFill>
                <a:latin typeface="Calibri"/>
              </a:rPr>
              <a:t>Weiter </a:t>
            </a:r>
            <a:r>
              <a:rPr sz="1400" b="0" i="0" dirty="0" err="1">
                <a:solidFill>
                  <a:srgbClr val="1B2A2F"/>
                </a:solidFill>
                <a:latin typeface="Calibri"/>
              </a:rPr>
              <a:t>draußen</a:t>
            </a:r>
            <a:r>
              <a:rPr sz="1400" b="0" i="0" dirty="0">
                <a:solidFill>
                  <a:srgbClr val="1B2A2F"/>
                </a:solidFill>
                <a:latin typeface="Calibri"/>
              </a:rPr>
              <a:t> </a:t>
            </a:r>
            <a:r>
              <a:rPr sz="1400" b="0" i="0" dirty="0" err="1">
                <a:solidFill>
                  <a:srgbClr val="1B2A2F"/>
                </a:solidFill>
                <a:latin typeface="Calibri"/>
              </a:rPr>
              <a:t>sinkt</a:t>
            </a:r>
            <a:r>
              <a:rPr sz="1400" b="0" i="0" dirty="0">
                <a:solidFill>
                  <a:srgbClr val="1B2A2F"/>
                </a:solidFill>
                <a:latin typeface="Calibri"/>
              </a:rPr>
              <a:t> </a:t>
            </a:r>
            <a:r>
              <a:rPr sz="1400" b="0" i="0" dirty="0" err="1">
                <a:solidFill>
                  <a:srgbClr val="1B2A2F"/>
                </a:solidFill>
                <a:latin typeface="Calibri"/>
              </a:rPr>
              <a:t>vor</a:t>
            </a:r>
            <a:r>
              <a:rPr sz="1400" b="0" i="0" dirty="0">
                <a:solidFill>
                  <a:srgbClr val="1B2A2F"/>
                </a:solidFill>
                <a:latin typeface="Calibri"/>
              </a:rPr>
              <a:t> </a:t>
            </a:r>
            <a:r>
              <a:rPr sz="1400" b="0" i="0" dirty="0" err="1">
                <a:solidFill>
                  <a:srgbClr val="1B2A2F"/>
                </a:solidFill>
                <a:latin typeface="Calibri"/>
              </a:rPr>
              <a:t>allem</a:t>
            </a:r>
            <a:r>
              <a:rPr sz="1400" b="0" i="0" dirty="0">
                <a:solidFill>
                  <a:srgbClr val="1B2A2F"/>
                </a:solidFill>
                <a:latin typeface="Calibri"/>
              </a:rPr>
              <a:t> der </a:t>
            </a:r>
            <a:r>
              <a:rPr sz="1400" b="0" i="0" dirty="0" err="1">
                <a:solidFill>
                  <a:srgbClr val="1B2A2F"/>
                </a:solidFill>
                <a:latin typeface="Calibri"/>
              </a:rPr>
              <a:t>Quadratmeterpreis</a:t>
            </a:r>
            <a:r>
              <a:rPr sz="1400" b="0" i="0" dirty="0">
                <a:solidFill>
                  <a:srgbClr val="1B2A2F"/>
                </a:solidFill>
                <a:latin typeface="Calibri"/>
              </a:rPr>
              <a:t>, und die </a:t>
            </a:r>
            <a:r>
              <a:rPr sz="1400" b="0" i="0" dirty="0" err="1">
                <a:solidFill>
                  <a:srgbClr val="1B2A2F"/>
                </a:solidFill>
                <a:latin typeface="Calibri"/>
              </a:rPr>
              <a:t>Grundstücke</a:t>
            </a:r>
            <a:r>
              <a:rPr sz="1400" b="0" i="0" dirty="0">
                <a:solidFill>
                  <a:srgbClr val="1B2A2F"/>
                </a:solidFill>
                <a:latin typeface="Calibri"/>
              </a:rPr>
              <a:t> </a:t>
            </a:r>
            <a:r>
              <a:rPr sz="1400" b="0" i="0" dirty="0" err="1">
                <a:solidFill>
                  <a:srgbClr val="1B2A2F"/>
                </a:solidFill>
                <a:latin typeface="Calibri"/>
              </a:rPr>
              <a:t>werden</a:t>
            </a:r>
            <a:r>
              <a:rPr sz="1400" b="0" i="0" dirty="0">
                <a:solidFill>
                  <a:srgbClr val="1B2A2F"/>
                </a:solidFill>
                <a:latin typeface="Calibri"/>
              </a:rPr>
              <a:t> </a:t>
            </a:r>
            <a:r>
              <a:rPr sz="1400" b="0" i="0" dirty="0" err="1">
                <a:solidFill>
                  <a:srgbClr val="1B2A2F"/>
                </a:solidFill>
                <a:latin typeface="Calibri"/>
              </a:rPr>
              <a:t>größer</a:t>
            </a:r>
            <a:r>
              <a:rPr sz="1400" b="0" i="0" dirty="0">
                <a:solidFill>
                  <a:srgbClr val="1B2A2F"/>
                </a:solidFill>
                <a:latin typeface="Calibri"/>
              </a:rPr>
              <a:t>.</a:t>
            </a:r>
          </a:p>
        </p:txBody>
      </p:sp>
      <p:pic>
        <p:nvPicPr>
          <p:cNvPr id="18" name="Grafik 17">
            <a:extLst>
              <a:ext uri="{FF2B5EF4-FFF2-40B4-BE49-F238E27FC236}">
                <a16:creationId xmlns:a16="http://schemas.microsoft.com/office/drawing/2014/main" id="{C25BC457-46DC-2349-2CDB-C7D4FDDB8532}"/>
              </a:ext>
            </a:extLst>
          </p:cNvPr>
          <p:cNvPicPr>
            <a:picLocks noChangeAspect="1"/>
          </p:cNvPicPr>
          <p:nvPr/>
        </p:nvPicPr>
        <p:blipFill>
          <a:blip r:embed="rId3"/>
          <a:srcRect/>
          <a:stretch/>
        </p:blipFill>
        <p:spPr>
          <a:xfrm>
            <a:off x="6637447" y="1081804"/>
            <a:ext cx="4519329" cy="2591271"/>
          </a:xfrm>
          <a:prstGeom prst="rect">
            <a:avLst/>
          </a:prstGeom>
          <a:ln>
            <a:solidFill>
              <a:schemeClr val="tx1"/>
            </a:solidFill>
          </a:ln>
        </p:spPr>
      </p:pic>
      <p:pic>
        <p:nvPicPr>
          <p:cNvPr id="20" name="Grafik 19">
            <a:extLst>
              <a:ext uri="{FF2B5EF4-FFF2-40B4-BE49-F238E27FC236}">
                <a16:creationId xmlns:a16="http://schemas.microsoft.com/office/drawing/2014/main" id="{DF456FAB-4E6E-A4FD-006F-4312047B9ED3}"/>
              </a:ext>
            </a:extLst>
          </p:cNvPr>
          <p:cNvPicPr>
            <a:picLocks noChangeAspect="1"/>
          </p:cNvPicPr>
          <p:nvPr/>
        </p:nvPicPr>
        <p:blipFill>
          <a:blip r:embed="rId4"/>
          <a:srcRect/>
          <a:stretch/>
        </p:blipFill>
        <p:spPr>
          <a:xfrm>
            <a:off x="6637447" y="3751704"/>
            <a:ext cx="4519329" cy="2641103"/>
          </a:xfrm>
          <a:prstGeom prst="rect">
            <a:avLst/>
          </a:prstGeom>
          <a:ln>
            <a:solidFill>
              <a:schemeClr val="tx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a:solidFill>
                  <a:srgbClr val="0B3C49"/>
                </a:solidFill>
                <a:latin typeface="Cambria"/>
              </a:rPr>
              <a:t>Was? Die Ausstattung bestimmt den Preis stärker als die Größe</a:t>
            </a: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6</a:t>
            </a:fld>
            <a:endParaRPr lang="de-DE" sz="1000">
              <a:solidFill>
                <a:srgbClr val="7C8C91"/>
              </a:solidFill>
            </a:endParaRPr>
          </a:p>
        </p:txBody>
      </p:sp>
      <p:sp>
        <p:nvSpPr>
          <p:cNvPr id="6" name="Aussagen"/>
          <p:cNvSpPr txBox="1"/>
          <p:nvPr/>
        </p:nvSpPr>
        <p:spPr>
          <a:xfrm>
            <a:off x="548640" y="2286000"/>
            <a:ext cx="4150497" cy="3467616"/>
          </a:xfrm>
          <a:prstGeom prst="rect">
            <a:avLst/>
          </a:prstGeom>
          <a:noFill/>
        </p:spPr>
        <p:txBody>
          <a:bodyPr wrap="square" lIns="0" tIns="0" rIns="0" bIns="0" anchor="t">
            <a:spAutoFit/>
          </a:bodyPr>
          <a:lstStyle/>
          <a:p>
            <a:pPr marL="285750" indent="-285750" algn="l">
              <a:spcAft>
                <a:spcPts val="1000"/>
              </a:spcAft>
              <a:buChar char="•"/>
            </a:pPr>
            <a:r>
              <a:rPr sz="1600" b="0" i="0" dirty="0" err="1">
                <a:solidFill>
                  <a:srgbClr val="1B2A2F"/>
                </a:solidFill>
                <a:latin typeface="Calibri"/>
              </a:rPr>
              <a:t>Kleinere</a:t>
            </a:r>
            <a:r>
              <a:rPr sz="1600" b="0" i="0" dirty="0">
                <a:solidFill>
                  <a:srgbClr val="1B2A2F"/>
                </a:solidFill>
                <a:latin typeface="Calibri"/>
              </a:rPr>
              <a:t> </a:t>
            </a:r>
            <a:r>
              <a:rPr sz="1600" b="0" i="0" dirty="0" err="1">
                <a:solidFill>
                  <a:srgbClr val="1B2A2F"/>
                </a:solidFill>
                <a:latin typeface="Calibri"/>
              </a:rPr>
              <a:t>Häuser</a:t>
            </a:r>
            <a:r>
              <a:rPr sz="1600" b="0" i="0" dirty="0">
                <a:solidFill>
                  <a:srgbClr val="1B2A2F"/>
                </a:solidFill>
                <a:latin typeface="Calibri"/>
              </a:rPr>
              <a:t> </a:t>
            </a:r>
            <a:r>
              <a:rPr sz="1600" b="0" i="0" dirty="0" err="1">
                <a:solidFill>
                  <a:srgbClr val="1B2A2F"/>
                </a:solidFill>
                <a:latin typeface="Calibri"/>
              </a:rPr>
              <a:t>sind</a:t>
            </a:r>
            <a:r>
              <a:rPr sz="1600" b="0" i="0" dirty="0">
                <a:solidFill>
                  <a:srgbClr val="1B2A2F"/>
                </a:solidFill>
                <a:latin typeface="Calibri"/>
              </a:rPr>
              <a:t> </a:t>
            </a:r>
            <a:r>
              <a:rPr sz="1600" b="0" i="0" dirty="0" err="1">
                <a:solidFill>
                  <a:srgbClr val="1B2A2F"/>
                </a:solidFill>
                <a:latin typeface="Calibri"/>
              </a:rPr>
              <a:t>im</a:t>
            </a:r>
            <a:r>
              <a:rPr sz="1600" b="0" i="0" dirty="0">
                <a:solidFill>
                  <a:srgbClr val="1B2A2F"/>
                </a:solidFill>
                <a:latin typeface="Calibri"/>
              </a:rPr>
              <a:t> </a:t>
            </a:r>
            <a:r>
              <a:rPr sz="1600" b="0" i="0" dirty="0" err="1">
                <a:solidFill>
                  <a:srgbClr val="1B2A2F"/>
                </a:solidFill>
                <a:latin typeface="Calibri"/>
              </a:rPr>
              <a:t>Gesamtpreis</a:t>
            </a:r>
            <a:r>
              <a:rPr sz="1600" b="0" i="0" dirty="0">
                <a:solidFill>
                  <a:srgbClr val="1B2A2F"/>
                </a:solidFill>
                <a:latin typeface="Calibri"/>
              </a:rPr>
              <a:t> </a:t>
            </a:r>
            <a:r>
              <a:rPr sz="1600" b="0" i="0" dirty="0" err="1">
                <a:solidFill>
                  <a:srgbClr val="1B2A2F"/>
                </a:solidFill>
                <a:latin typeface="Calibri"/>
              </a:rPr>
              <a:t>günstiger</a:t>
            </a:r>
            <a:r>
              <a:rPr sz="1600" b="0" i="0" dirty="0">
                <a:solidFill>
                  <a:srgbClr val="1B2A2F"/>
                </a:solidFill>
                <a:latin typeface="Calibri"/>
              </a:rPr>
              <a:t>, pro m² </a:t>
            </a:r>
            <a:r>
              <a:rPr sz="1600" b="0" i="0" dirty="0" err="1">
                <a:solidFill>
                  <a:srgbClr val="1B2A2F"/>
                </a:solidFill>
                <a:latin typeface="Calibri"/>
              </a:rPr>
              <a:t>aber</a:t>
            </a:r>
            <a:r>
              <a:rPr sz="1600" b="0" i="0" dirty="0">
                <a:solidFill>
                  <a:srgbClr val="1B2A2F"/>
                </a:solidFill>
                <a:latin typeface="Calibri"/>
              </a:rPr>
              <a:t> </a:t>
            </a:r>
            <a:r>
              <a:rPr sz="1600" b="0" i="0" dirty="0" err="1">
                <a:solidFill>
                  <a:srgbClr val="1B2A2F"/>
                </a:solidFill>
                <a:latin typeface="Calibri"/>
              </a:rPr>
              <a:t>teurer</a:t>
            </a:r>
            <a:r>
              <a:rPr sz="1600" b="0" i="0" dirty="0">
                <a:solidFill>
                  <a:srgbClr val="1B2A2F"/>
                </a:solidFill>
                <a:latin typeface="Calibri"/>
              </a:rPr>
              <a:t>.</a:t>
            </a:r>
          </a:p>
          <a:p>
            <a:pPr marL="285750" indent="-285750" algn="l">
              <a:spcAft>
                <a:spcPts val="1000"/>
              </a:spcAft>
              <a:buChar char="•"/>
            </a:pPr>
            <a:r>
              <a:rPr sz="1600" b="0" i="0" dirty="0">
                <a:solidFill>
                  <a:srgbClr val="1B2A2F"/>
                </a:solidFill>
                <a:latin typeface="Calibri"/>
              </a:rPr>
              <a:t>Bei </a:t>
            </a:r>
            <a:r>
              <a:rPr sz="1600" b="0" i="0" dirty="0" err="1">
                <a:solidFill>
                  <a:srgbClr val="1B2A2F"/>
                </a:solidFill>
                <a:latin typeface="Calibri"/>
              </a:rPr>
              <a:t>gleicher</a:t>
            </a:r>
            <a:r>
              <a:rPr sz="1600" b="0" i="0" dirty="0">
                <a:solidFill>
                  <a:srgbClr val="1B2A2F"/>
                </a:solidFill>
                <a:latin typeface="Calibri"/>
              </a:rPr>
              <a:t> </a:t>
            </a:r>
            <a:r>
              <a:rPr sz="1600" b="0" i="0" dirty="0" err="1">
                <a:solidFill>
                  <a:srgbClr val="1B2A2F"/>
                </a:solidFill>
                <a:latin typeface="Calibri"/>
              </a:rPr>
              <a:t>Größe</a:t>
            </a:r>
            <a:r>
              <a:rPr sz="1600" b="0" i="0" dirty="0">
                <a:solidFill>
                  <a:srgbClr val="1B2A2F"/>
                </a:solidFill>
                <a:latin typeface="Calibri"/>
              </a:rPr>
              <a:t> </a:t>
            </a:r>
            <a:r>
              <a:rPr sz="1600" b="0" i="0" dirty="0" err="1">
                <a:solidFill>
                  <a:srgbClr val="1B2A2F"/>
                </a:solidFill>
                <a:latin typeface="Calibri"/>
              </a:rPr>
              <a:t>kostet</a:t>
            </a:r>
            <a:r>
              <a:rPr sz="1600" b="0" i="0" dirty="0">
                <a:solidFill>
                  <a:srgbClr val="1B2A2F"/>
                </a:solidFill>
                <a:latin typeface="Calibri"/>
              </a:rPr>
              <a:t> </a:t>
            </a:r>
            <a:r>
              <a:rPr sz="1600" b="0" i="0" dirty="0" err="1">
                <a:solidFill>
                  <a:srgbClr val="1B2A2F"/>
                </a:solidFill>
                <a:latin typeface="Calibri"/>
              </a:rPr>
              <a:t>gehobene</a:t>
            </a:r>
            <a:r>
              <a:rPr sz="1600" b="0" i="0" dirty="0">
                <a:solidFill>
                  <a:srgbClr val="1B2A2F"/>
                </a:solidFill>
                <a:latin typeface="Calibri"/>
              </a:rPr>
              <a:t> </a:t>
            </a:r>
            <a:r>
              <a:rPr sz="1600" b="0" i="0" dirty="0" err="1">
                <a:solidFill>
                  <a:srgbClr val="1B2A2F"/>
                </a:solidFill>
                <a:latin typeface="Calibri"/>
              </a:rPr>
              <a:t>Ausstattung</a:t>
            </a:r>
            <a:r>
              <a:rPr sz="1600" b="0" i="0" dirty="0">
                <a:solidFill>
                  <a:srgbClr val="1B2A2F"/>
                </a:solidFill>
                <a:latin typeface="Calibri"/>
              </a:rPr>
              <a:t> </a:t>
            </a:r>
            <a:r>
              <a:rPr sz="1600" b="0" i="0" dirty="0" err="1">
                <a:solidFill>
                  <a:srgbClr val="1B2A2F"/>
                </a:solidFill>
                <a:latin typeface="Calibri"/>
              </a:rPr>
              <a:t>deutlich</a:t>
            </a:r>
            <a:r>
              <a:rPr sz="1600" b="0" i="0" dirty="0">
                <a:solidFill>
                  <a:srgbClr val="1B2A2F"/>
                </a:solidFill>
                <a:latin typeface="Calibri"/>
              </a:rPr>
              <a:t> </a:t>
            </a:r>
            <a:r>
              <a:rPr sz="1600" b="0" i="0" dirty="0" err="1">
                <a:solidFill>
                  <a:srgbClr val="1B2A2F"/>
                </a:solidFill>
                <a:latin typeface="Calibri"/>
              </a:rPr>
              <a:t>mehr</a:t>
            </a:r>
            <a:r>
              <a:rPr sz="1600" b="0" i="0" dirty="0">
                <a:solidFill>
                  <a:srgbClr val="1B2A2F"/>
                </a:solidFill>
                <a:latin typeface="Calibri"/>
              </a:rPr>
              <a:t>: </a:t>
            </a:r>
            <a:r>
              <a:rPr sz="1600" b="0" i="0" dirty="0" err="1">
                <a:solidFill>
                  <a:srgbClr val="1B2A2F"/>
                </a:solidFill>
                <a:latin typeface="Calibri"/>
              </a:rPr>
              <a:t>bei</a:t>
            </a:r>
            <a:r>
              <a:rPr sz="1600" b="0" i="0" dirty="0">
                <a:solidFill>
                  <a:srgbClr val="1B2A2F"/>
                </a:solidFill>
                <a:latin typeface="Calibri"/>
              </a:rPr>
              <a:t> 151 bis 200 m² </a:t>
            </a:r>
            <a:r>
              <a:rPr sz="1600" b="0" i="0" dirty="0" err="1">
                <a:solidFill>
                  <a:srgbClr val="1B2A2F"/>
                </a:solidFill>
                <a:latin typeface="Calibri"/>
              </a:rPr>
              <a:t>etwa</a:t>
            </a:r>
            <a:r>
              <a:rPr sz="1600" b="0" i="0" dirty="0">
                <a:solidFill>
                  <a:srgbClr val="1B2A2F"/>
                </a:solidFill>
                <a:latin typeface="Calibri"/>
              </a:rPr>
              <a:t> 625.000 </a:t>
            </a:r>
            <a:r>
              <a:rPr sz="1600" b="0" i="0" dirty="0" err="1">
                <a:solidFill>
                  <a:srgbClr val="1B2A2F"/>
                </a:solidFill>
                <a:latin typeface="Calibri"/>
              </a:rPr>
              <a:t>statt</a:t>
            </a:r>
            <a:r>
              <a:rPr sz="1600" b="0" i="0" dirty="0">
                <a:solidFill>
                  <a:srgbClr val="1B2A2F"/>
                </a:solidFill>
                <a:latin typeface="Calibri"/>
              </a:rPr>
              <a:t> 320.000 USD (Median).</a:t>
            </a:r>
          </a:p>
          <a:p>
            <a:pPr marL="285750" indent="-285750" algn="l">
              <a:spcAft>
                <a:spcPts val="1000"/>
              </a:spcAft>
              <a:buChar char="•"/>
            </a:pPr>
            <a:r>
              <a:rPr sz="1600" b="0" i="0" dirty="0">
                <a:solidFill>
                  <a:srgbClr val="1B2A2F"/>
                </a:solidFill>
                <a:latin typeface="Calibri"/>
              </a:rPr>
              <a:t>Die Lage </a:t>
            </a:r>
            <a:r>
              <a:rPr sz="1600" b="0" i="0" dirty="0" err="1">
                <a:solidFill>
                  <a:srgbClr val="1B2A2F"/>
                </a:solidFill>
                <a:latin typeface="Calibri"/>
              </a:rPr>
              <a:t>erklärt</a:t>
            </a:r>
            <a:r>
              <a:rPr sz="1600" b="0" i="0" dirty="0">
                <a:solidFill>
                  <a:srgbClr val="1B2A2F"/>
                </a:solidFill>
                <a:latin typeface="Calibri"/>
              </a:rPr>
              <a:t> das nicht: Alle </a:t>
            </a:r>
            <a:r>
              <a:rPr sz="1600" b="0" i="0" dirty="0" err="1">
                <a:solidFill>
                  <a:srgbClr val="1B2A2F"/>
                </a:solidFill>
                <a:latin typeface="Calibri"/>
              </a:rPr>
              <a:t>Qualitätsstufen</a:t>
            </a:r>
            <a:r>
              <a:rPr sz="1600" b="0" i="0" dirty="0">
                <a:solidFill>
                  <a:srgbClr val="1B2A2F"/>
                </a:solidFill>
                <a:latin typeface="Calibri"/>
              </a:rPr>
              <a:t> </a:t>
            </a:r>
            <a:r>
              <a:rPr sz="1600" b="0" i="0" dirty="0" err="1">
                <a:solidFill>
                  <a:srgbClr val="1B2A2F"/>
                </a:solidFill>
                <a:latin typeface="Calibri"/>
              </a:rPr>
              <a:t>liegen</a:t>
            </a:r>
            <a:r>
              <a:rPr sz="1600" b="0" i="0" dirty="0">
                <a:solidFill>
                  <a:srgbClr val="1B2A2F"/>
                </a:solidFill>
                <a:latin typeface="Calibri"/>
              </a:rPr>
              <a:t> </a:t>
            </a:r>
            <a:r>
              <a:rPr sz="1600" b="0" i="0" dirty="0" err="1">
                <a:solidFill>
                  <a:srgbClr val="1B2A2F"/>
                </a:solidFill>
                <a:latin typeface="Calibri"/>
              </a:rPr>
              <a:t>ähnlich</a:t>
            </a:r>
            <a:r>
              <a:rPr sz="1600" b="0" i="0" dirty="0">
                <a:solidFill>
                  <a:srgbClr val="1B2A2F"/>
                </a:solidFill>
                <a:latin typeface="Calibri"/>
              </a:rPr>
              <a:t> nah am Zentrum.</a:t>
            </a:r>
          </a:p>
          <a:p>
            <a:pPr marL="285750" indent="-285750" algn="l">
              <a:spcAft>
                <a:spcPts val="1000"/>
              </a:spcAft>
              <a:buChar char="•"/>
            </a:pPr>
            <a:r>
              <a:rPr sz="1600" b="0" i="0" dirty="0">
                <a:solidFill>
                  <a:srgbClr val="1B2A2F"/>
                </a:solidFill>
                <a:latin typeface="Calibri"/>
              </a:rPr>
              <a:t>Mit </a:t>
            </a:r>
            <a:r>
              <a:rPr sz="1600" b="0" i="0" dirty="0" err="1">
                <a:solidFill>
                  <a:srgbClr val="1B2A2F"/>
                </a:solidFill>
                <a:latin typeface="Calibri"/>
              </a:rPr>
              <a:t>einfacherer</a:t>
            </a:r>
            <a:r>
              <a:rPr sz="1600" b="0" i="0" dirty="0">
                <a:solidFill>
                  <a:srgbClr val="1B2A2F"/>
                </a:solidFill>
                <a:latin typeface="Calibri"/>
              </a:rPr>
              <a:t> </a:t>
            </a:r>
            <a:r>
              <a:rPr sz="1600" b="0" i="0" dirty="0" err="1">
                <a:solidFill>
                  <a:srgbClr val="1B2A2F"/>
                </a:solidFill>
                <a:latin typeface="Calibri"/>
              </a:rPr>
              <a:t>Ausstattung</a:t>
            </a:r>
            <a:r>
              <a:rPr sz="1600" b="0" i="0" dirty="0">
                <a:solidFill>
                  <a:srgbClr val="1B2A2F"/>
                </a:solidFill>
                <a:latin typeface="Calibri"/>
              </a:rPr>
              <a:t> </a:t>
            </a:r>
            <a:r>
              <a:rPr sz="1600" b="0" i="0" dirty="0" err="1">
                <a:solidFill>
                  <a:srgbClr val="1B2A2F"/>
                </a:solidFill>
                <a:latin typeface="Calibri"/>
              </a:rPr>
              <a:t>bekommt</a:t>
            </a:r>
            <a:r>
              <a:rPr sz="1600" b="0" i="0" dirty="0">
                <a:solidFill>
                  <a:srgbClr val="1B2A2F"/>
                </a:solidFill>
                <a:latin typeface="Calibri"/>
              </a:rPr>
              <a:t> Nicole </a:t>
            </a:r>
            <a:r>
              <a:rPr sz="1600" b="0" i="0" dirty="0" err="1">
                <a:solidFill>
                  <a:srgbClr val="1B2A2F"/>
                </a:solidFill>
                <a:latin typeface="Calibri"/>
              </a:rPr>
              <a:t>mehr</a:t>
            </a:r>
            <a:r>
              <a:rPr sz="1600" b="0" i="0" dirty="0">
                <a:solidFill>
                  <a:srgbClr val="1B2A2F"/>
                </a:solidFill>
                <a:latin typeface="Calibri"/>
              </a:rPr>
              <a:t> </a:t>
            </a:r>
            <a:r>
              <a:rPr sz="1600" b="0" i="0" dirty="0" err="1">
                <a:solidFill>
                  <a:srgbClr val="1B2A2F"/>
                </a:solidFill>
                <a:latin typeface="Calibri"/>
              </a:rPr>
              <a:t>Fläche</a:t>
            </a:r>
            <a:r>
              <a:rPr sz="1600" b="0" i="0" dirty="0">
                <a:solidFill>
                  <a:srgbClr val="1B2A2F"/>
                </a:solidFill>
                <a:latin typeface="Calibri"/>
              </a:rPr>
              <a:t> </a:t>
            </a:r>
            <a:r>
              <a:rPr sz="1600" b="0" i="0" dirty="0" err="1">
                <a:solidFill>
                  <a:srgbClr val="1B2A2F"/>
                </a:solidFill>
                <a:latin typeface="Calibri"/>
              </a:rPr>
              <a:t>fürs</a:t>
            </a:r>
            <a:r>
              <a:rPr sz="1600" b="0" i="0" dirty="0">
                <a:solidFill>
                  <a:srgbClr val="1B2A2F"/>
                </a:solidFill>
                <a:latin typeface="Calibri"/>
              </a:rPr>
              <a:t> </a:t>
            </a:r>
            <a:r>
              <a:rPr sz="1600" b="0" i="0" dirty="0" err="1">
                <a:solidFill>
                  <a:srgbClr val="1B2A2F"/>
                </a:solidFill>
                <a:latin typeface="Calibri"/>
              </a:rPr>
              <a:t>gleiche</a:t>
            </a:r>
            <a:r>
              <a:rPr sz="1600" b="0" i="0" dirty="0">
                <a:solidFill>
                  <a:srgbClr val="1B2A2F"/>
                </a:solidFill>
                <a:latin typeface="Calibri"/>
              </a:rPr>
              <a:t> Geld.</a:t>
            </a:r>
            <a:endParaRPr lang="de-DE" sz="1600" b="0" i="0" dirty="0">
              <a:solidFill>
                <a:srgbClr val="1B2A2F"/>
              </a:solidFill>
              <a:latin typeface="Calibri"/>
            </a:endParaRPr>
          </a:p>
          <a:p>
            <a:pPr marL="285750" indent="-285750" algn="l">
              <a:spcAft>
                <a:spcPts val="1000"/>
              </a:spcAft>
              <a:buChar char="•"/>
            </a:pPr>
            <a:r>
              <a:rPr lang="de-DE" sz="1600" b="0" i="0" dirty="0">
                <a:solidFill>
                  <a:srgbClr val="1B2A2F"/>
                </a:solidFill>
                <a:latin typeface="Calibri"/>
              </a:rPr>
              <a:t>Wenn der Wille zur eigenständigen Renovierung vorhanden ist, kann man </a:t>
            </a:r>
            <a:r>
              <a:rPr lang="de-DE" sz="1600" dirty="0">
                <a:solidFill>
                  <a:srgbClr val="1B2A2F"/>
                </a:solidFill>
                <a:latin typeface="Calibri"/>
              </a:rPr>
              <a:t>ein Schnäppchen ergattern</a:t>
            </a:r>
            <a:endParaRPr sz="1600" b="0" i="0" dirty="0">
              <a:solidFill>
                <a:srgbClr val="1B2A2F"/>
              </a:solidFill>
              <a:latin typeface="Calibri"/>
            </a:endParaRPr>
          </a:p>
        </p:txBody>
      </p:sp>
      <p:pic>
        <p:nvPicPr>
          <p:cNvPr id="10" name="Grafik 9">
            <a:extLst>
              <a:ext uri="{FF2B5EF4-FFF2-40B4-BE49-F238E27FC236}">
                <a16:creationId xmlns:a16="http://schemas.microsoft.com/office/drawing/2014/main" id="{7D6A3BB4-2C51-7B3E-F32D-D9B75D0011FB}"/>
              </a:ext>
            </a:extLst>
          </p:cNvPr>
          <p:cNvPicPr>
            <a:picLocks noChangeAspect="1"/>
          </p:cNvPicPr>
          <p:nvPr/>
        </p:nvPicPr>
        <p:blipFill>
          <a:blip r:embed="rId3"/>
          <a:srcRect/>
          <a:stretch/>
        </p:blipFill>
        <p:spPr>
          <a:xfrm>
            <a:off x="4699138" y="1821696"/>
            <a:ext cx="7304769" cy="3931920"/>
          </a:xfrm>
          <a:prstGeom prst="rect">
            <a:avLst/>
          </a:prstGeom>
          <a:ln>
            <a:solidFill>
              <a:schemeClr val="tx1"/>
            </a:solidFill>
          </a:ln>
        </p:spPr>
      </p:pic>
      <p:sp>
        <p:nvSpPr>
          <p:cNvPr id="12" name="Ergebnis-Label">
            <a:extLst>
              <a:ext uri="{FF2B5EF4-FFF2-40B4-BE49-F238E27FC236}">
                <a16:creationId xmlns:a16="http://schemas.microsoft.com/office/drawing/2014/main" id="{CDB150B1-CFD5-0C1A-CBCB-272630AF135C}"/>
              </a:ext>
            </a:extLst>
          </p:cNvPr>
          <p:cNvSpPr/>
          <p:nvPr/>
        </p:nvSpPr>
        <p:spPr>
          <a:xfrm>
            <a:off x="188093" y="1273228"/>
            <a:ext cx="4288536" cy="677108"/>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dirty="0" err="1">
                <a:solidFill>
                  <a:srgbClr val="1B2A2F"/>
                </a:solidFill>
                <a:latin typeface="Calibri"/>
              </a:rPr>
              <a:t>Hypothese</a:t>
            </a:r>
            <a:r>
              <a:rPr lang="de-DE" sz="1600" b="1" i="0" dirty="0">
                <a:solidFill>
                  <a:srgbClr val="1B2A2F"/>
                </a:solidFill>
                <a:latin typeface="Calibri"/>
              </a:rPr>
              <a:t> 2</a:t>
            </a:r>
            <a:r>
              <a:rPr sz="1600" b="1" i="0" dirty="0">
                <a:solidFill>
                  <a:srgbClr val="1B2A2F"/>
                </a:solidFill>
                <a:latin typeface="Calibri"/>
              </a:rPr>
              <a:t>: </a:t>
            </a:r>
            <a:r>
              <a:rPr sz="1600" b="1" i="0" dirty="0" err="1">
                <a:solidFill>
                  <a:srgbClr val="1B2A2F"/>
                </a:solidFill>
                <a:latin typeface="Calibri"/>
              </a:rPr>
              <a:t>teilweise</a:t>
            </a:r>
            <a:r>
              <a:rPr sz="1600" b="1" i="0" dirty="0">
                <a:solidFill>
                  <a:srgbClr val="1B2A2F"/>
                </a:solidFill>
                <a:latin typeface="Calibri"/>
              </a:rPr>
              <a:t> </a:t>
            </a:r>
            <a:r>
              <a:rPr sz="1600" b="1" i="0" dirty="0" err="1">
                <a:solidFill>
                  <a:srgbClr val="1B2A2F"/>
                </a:solidFill>
                <a:latin typeface="Calibri"/>
              </a:rPr>
              <a:t>bestätigt</a:t>
            </a:r>
            <a:endParaRPr sz="1600" b="1" i="0" dirty="0">
              <a:solidFill>
                <a:srgbClr val="1B2A2F"/>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a:solidFill>
                  <a:srgbClr val="0B3C49"/>
                </a:solidFill>
                <a:latin typeface="Cambria"/>
              </a:rPr>
              <a:t>Wann? Die Preise bleiben über das Jahr stabil, nur das mittlere Segment zieht zum Schluss an</a:t>
            </a: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7</a:t>
            </a:fld>
            <a:endParaRPr lang="de-DE" sz="1000">
              <a:solidFill>
                <a:srgbClr val="7C8C91"/>
              </a:solidFill>
            </a:endParaRPr>
          </a:p>
        </p:txBody>
      </p:sp>
      <p:sp>
        <p:nvSpPr>
          <p:cNvPr id="5" name="Ergebnis-Label"/>
          <p:cNvSpPr/>
          <p:nvPr/>
        </p:nvSpPr>
        <p:spPr>
          <a:xfrm>
            <a:off x="548640" y="1645920"/>
            <a:ext cx="3291840" cy="365760"/>
          </a:xfrm>
          <a:prstGeom prst="roundRect">
            <a:avLst>
              <a:gd name="adj" fmla="val 50000"/>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i="0" dirty="0" err="1">
                <a:solidFill>
                  <a:srgbClr val="FFFFFF"/>
                </a:solidFill>
                <a:latin typeface="Calibri"/>
              </a:rPr>
              <a:t>Hypothese</a:t>
            </a:r>
            <a:r>
              <a:rPr sz="1600" b="1" i="0" dirty="0">
                <a:solidFill>
                  <a:srgbClr val="FFFFFF"/>
                </a:solidFill>
                <a:latin typeface="Calibri"/>
              </a:rPr>
              <a:t>: nicht </a:t>
            </a:r>
            <a:r>
              <a:rPr sz="1600" b="1" i="0" dirty="0" err="1">
                <a:solidFill>
                  <a:srgbClr val="FFFFFF"/>
                </a:solidFill>
                <a:latin typeface="Calibri"/>
              </a:rPr>
              <a:t>bestätigt</a:t>
            </a:r>
            <a:endParaRPr sz="1600" b="1" i="0" dirty="0">
              <a:solidFill>
                <a:srgbClr val="FFFFFF"/>
              </a:solidFill>
              <a:latin typeface="Calibri"/>
            </a:endParaRPr>
          </a:p>
        </p:txBody>
      </p:sp>
      <p:sp>
        <p:nvSpPr>
          <p:cNvPr id="6" name="Kennzahl"/>
          <p:cNvSpPr txBox="1"/>
          <p:nvPr/>
        </p:nvSpPr>
        <p:spPr>
          <a:xfrm>
            <a:off x="548640" y="2286000"/>
            <a:ext cx="5120640" cy="822960"/>
          </a:xfrm>
          <a:prstGeom prst="rect">
            <a:avLst/>
          </a:prstGeom>
          <a:noFill/>
        </p:spPr>
        <p:txBody>
          <a:bodyPr wrap="square" lIns="0" tIns="0" rIns="0" bIns="0" anchor="ctr">
            <a:spAutoFit/>
          </a:bodyPr>
          <a:lstStyle/>
          <a:p>
            <a:pPr algn="l"/>
            <a:r>
              <a:rPr sz="4400" b="1" i="0">
                <a:solidFill>
                  <a:srgbClr val="3A7D8C"/>
                </a:solidFill>
                <a:latin typeface="Cambria"/>
              </a:rPr>
              <a:t>+21 %</a:t>
            </a:r>
          </a:p>
        </p:txBody>
      </p:sp>
      <p:sp>
        <p:nvSpPr>
          <p:cNvPr id="7" name="Kennzahl Text"/>
          <p:cNvSpPr txBox="1"/>
          <p:nvPr/>
        </p:nvSpPr>
        <p:spPr>
          <a:xfrm>
            <a:off x="548640" y="3154680"/>
            <a:ext cx="4343400" cy="430887"/>
          </a:xfrm>
          <a:prstGeom prst="rect">
            <a:avLst/>
          </a:prstGeom>
          <a:noFill/>
        </p:spPr>
        <p:txBody>
          <a:bodyPr wrap="square" lIns="0" tIns="0" rIns="0" bIns="0" anchor="t">
            <a:spAutoFit/>
          </a:bodyPr>
          <a:lstStyle/>
          <a:p>
            <a:pPr algn="l"/>
            <a:r>
              <a:rPr sz="1400" b="0" i="0" dirty="0" err="1">
                <a:solidFill>
                  <a:srgbClr val="1B2A2F"/>
                </a:solidFill>
                <a:latin typeface="Calibri"/>
              </a:rPr>
              <a:t>Mittlere</a:t>
            </a:r>
            <a:r>
              <a:rPr sz="1400" b="0" i="0" dirty="0">
                <a:solidFill>
                  <a:srgbClr val="1B2A2F"/>
                </a:solidFill>
                <a:latin typeface="Calibri"/>
              </a:rPr>
              <a:t> </a:t>
            </a:r>
            <a:r>
              <a:rPr sz="1400" b="0" i="0" dirty="0" err="1">
                <a:solidFill>
                  <a:srgbClr val="1B2A2F"/>
                </a:solidFill>
                <a:latin typeface="Calibri"/>
              </a:rPr>
              <a:t>Ausstattung</a:t>
            </a:r>
            <a:r>
              <a:rPr sz="1400" b="0" i="0" dirty="0">
                <a:solidFill>
                  <a:srgbClr val="1B2A2F"/>
                </a:solidFill>
                <a:latin typeface="Calibri"/>
              </a:rPr>
              <a:t>: Median Mai 2014 </a:t>
            </a:r>
            <a:r>
              <a:rPr sz="1400" b="0" i="0" dirty="0" err="1">
                <a:solidFill>
                  <a:srgbClr val="1B2A2F"/>
                </a:solidFill>
                <a:latin typeface="Calibri"/>
              </a:rPr>
              <a:t>gegen</a:t>
            </a:r>
            <a:r>
              <a:rPr sz="1400" b="0" i="0" dirty="0">
                <a:solidFill>
                  <a:srgbClr val="1B2A2F"/>
                </a:solidFill>
                <a:latin typeface="Calibri"/>
              </a:rPr>
              <a:t> Mai 2015 (n = 112 und 52)</a:t>
            </a:r>
          </a:p>
        </p:txBody>
      </p:sp>
      <p:sp>
        <p:nvSpPr>
          <p:cNvPr id="8" name="Kennzahl"/>
          <p:cNvSpPr txBox="1"/>
          <p:nvPr/>
        </p:nvSpPr>
        <p:spPr>
          <a:xfrm>
            <a:off x="548640" y="4096286"/>
            <a:ext cx="4517136" cy="677108"/>
          </a:xfrm>
          <a:prstGeom prst="rect">
            <a:avLst/>
          </a:prstGeom>
          <a:noFill/>
        </p:spPr>
        <p:txBody>
          <a:bodyPr wrap="square" lIns="0" tIns="0" rIns="0" bIns="0" anchor="ctr">
            <a:spAutoFit/>
          </a:bodyPr>
          <a:lstStyle/>
          <a:p>
            <a:pPr algn="l"/>
            <a:r>
              <a:rPr sz="4400" b="1" i="0" dirty="0">
                <a:solidFill>
                  <a:srgbClr val="3A7D8C"/>
                </a:solidFill>
                <a:latin typeface="Cambria"/>
              </a:rPr>
              <a:t>−1 % / −2 %</a:t>
            </a:r>
          </a:p>
        </p:txBody>
      </p:sp>
      <p:sp>
        <p:nvSpPr>
          <p:cNvPr id="9" name="Kennzahl Text"/>
          <p:cNvSpPr txBox="1"/>
          <p:nvPr/>
        </p:nvSpPr>
        <p:spPr>
          <a:xfrm>
            <a:off x="548640" y="4892040"/>
            <a:ext cx="5120640" cy="640080"/>
          </a:xfrm>
          <a:prstGeom prst="rect">
            <a:avLst/>
          </a:prstGeom>
          <a:noFill/>
        </p:spPr>
        <p:txBody>
          <a:bodyPr wrap="square" lIns="0" tIns="0" rIns="0" bIns="0" anchor="t">
            <a:spAutoFit/>
          </a:bodyPr>
          <a:lstStyle/>
          <a:p>
            <a:pPr algn="l"/>
            <a:r>
              <a:rPr sz="1400" b="0" i="0">
                <a:solidFill>
                  <a:srgbClr val="1B2A2F"/>
                </a:solidFill>
                <a:latin typeface="Calibri"/>
              </a:rPr>
              <a:t>Einfache und gehobene Ausstattung im selben Vergleich</a:t>
            </a:r>
          </a:p>
        </p:txBody>
      </p:sp>
      <p:sp>
        <p:nvSpPr>
          <p:cNvPr id="10" name="TextBox 9"/>
          <p:cNvSpPr txBox="1"/>
          <p:nvPr/>
        </p:nvSpPr>
        <p:spPr>
          <a:xfrm>
            <a:off x="548640" y="5669280"/>
            <a:ext cx="4626864" cy="430887"/>
          </a:xfrm>
          <a:prstGeom prst="rect">
            <a:avLst/>
          </a:prstGeom>
          <a:noFill/>
        </p:spPr>
        <p:txBody>
          <a:bodyPr wrap="square" lIns="0" tIns="0" rIns="0" bIns="0" anchor="t">
            <a:spAutoFit/>
          </a:bodyPr>
          <a:lstStyle/>
          <a:p>
            <a:pPr algn="l"/>
            <a:r>
              <a:rPr sz="1400" b="0" i="0" dirty="0" err="1">
                <a:solidFill>
                  <a:srgbClr val="1B2A2F"/>
                </a:solidFill>
                <a:latin typeface="Calibri"/>
              </a:rPr>
              <a:t>Wiederverkäufe</a:t>
            </a:r>
            <a:r>
              <a:rPr sz="1400" b="0" i="0" dirty="0">
                <a:solidFill>
                  <a:srgbClr val="1B2A2F"/>
                </a:solidFill>
                <a:latin typeface="Calibri"/>
              </a:rPr>
              <a:t> (Median ca. +60 %) </a:t>
            </a:r>
            <a:r>
              <a:rPr sz="1400" b="0" i="0" dirty="0" err="1">
                <a:solidFill>
                  <a:srgbClr val="1B2A2F"/>
                </a:solidFill>
                <a:latin typeface="Calibri"/>
              </a:rPr>
              <a:t>sind</a:t>
            </a:r>
            <a:r>
              <a:rPr sz="1400" b="0" i="0" dirty="0">
                <a:solidFill>
                  <a:srgbClr val="1B2A2F"/>
                </a:solidFill>
                <a:latin typeface="Calibri"/>
              </a:rPr>
              <a:t> </a:t>
            </a:r>
            <a:r>
              <a:rPr sz="1400" b="0" i="0" dirty="0" err="1">
                <a:solidFill>
                  <a:srgbClr val="1B2A2F"/>
                </a:solidFill>
                <a:latin typeface="Calibri"/>
              </a:rPr>
              <a:t>kein</a:t>
            </a:r>
            <a:r>
              <a:rPr sz="1400" b="0" i="0" dirty="0">
                <a:solidFill>
                  <a:srgbClr val="1B2A2F"/>
                </a:solidFill>
                <a:latin typeface="Calibri"/>
              </a:rPr>
              <a:t> </a:t>
            </a:r>
            <a:r>
              <a:rPr sz="1400" b="0" i="0" dirty="0" err="1">
                <a:solidFill>
                  <a:srgbClr val="1B2A2F"/>
                </a:solidFill>
                <a:latin typeface="Calibri"/>
              </a:rPr>
              <a:t>sauberes</a:t>
            </a:r>
            <a:r>
              <a:rPr sz="1400" b="0" i="0" dirty="0">
                <a:solidFill>
                  <a:srgbClr val="1B2A2F"/>
                </a:solidFill>
                <a:latin typeface="Calibri"/>
              </a:rPr>
              <a:t> </a:t>
            </a:r>
            <a:r>
              <a:rPr sz="1400" b="0" i="0" dirty="0" err="1">
                <a:solidFill>
                  <a:srgbClr val="1B2A2F"/>
                </a:solidFill>
                <a:latin typeface="Calibri"/>
              </a:rPr>
              <a:t>Marktsignal</a:t>
            </a:r>
            <a:r>
              <a:rPr sz="1400" b="0" i="0" dirty="0">
                <a:solidFill>
                  <a:srgbClr val="1B2A2F"/>
                </a:solidFill>
                <a:latin typeface="Calibri"/>
              </a:rPr>
              <a:t>, </a:t>
            </a:r>
            <a:r>
              <a:rPr sz="1400" b="0" i="0" dirty="0" err="1">
                <a:solidFill>
                  <a:srgbClr val="1B2A2F"/>
                </a:solidFill>
                <a:latin typeface="Calibri"/>
              </a:rPr>
              <a:t>vermutlich</a:t>
            </a:r>
            <a:r>
              <a:rPr sz="1400" b="0" i="0" dirty="0">
                <a:solidFill>
                  <a:srgbClr val="1B2A2F"/>
                </a:solidFill>
                <a:latin typeface="Calibri"/>
              </a:rPr>
              <a:t> </a:t>
            </a:r>
            <a:r>
              <a:rPr sz="1400" b="0" i="0" dirty="0" err="1">
                <a:solidFill>
                  <a:srgbClr val="1B2A2F"/>
                </a:solidFill>
                <a:latin typeface="Calibri"/>
              </a:rPr>
              <a:t>stecken</a:t>
            </a:r>
            <a:r>
              <a:rPr sz="1400" b="0" i="0" dirty="0">
                <a:solidFill>
                  <a:srgbClr val="1B2A2F"/>
                </a:solidFill>
                <a:latin typeface="Calibri"/>
              </a:rPr>
              <a:t> </a:t>
            </a:r>
            <a:r>
              <a:rPr sz="1400" b="0" i="0" dirty="0" err="1">
                <a:solidFill>
                  <a:srgbClr val="1B2A2F"/>
                </a:solidFill>
                <a:latin typeface="Calibri"/>
              </a:rPr>
              <a:t>Sanierungen</a:t>
            </a:r>
            <a:r>
              <a:rPr sz="1400" b="0" i="0" dirty="0">
                <a:solidFill>
                  <a:srgbClr val="1B2A2F"/>
                </a:solidFill>
                <a:latin typeface="Calibri"/>
              </a:rPr>
              <a:t> </a:t>
            </a:r>
            <a:r>
              <a:rPr sz="1400" b="0" i="0" dirty="0" err="1">
                <a:solidFill>
                  <a:srgbClr val="1B2A2F"/>
                </a:solidFill>
                <a:latin typeface="Calibri"/>
              </a:rPr>
              <a:t>dahinter</a:t>
            </a:r>
            <a:r>
              <a:rPr sz="1400" b="0" i="0" dirty="0">
                <a:solidFill>
                  <a:srgbClr val="1B2A2F"/>
                </a:solidFill>
                <a:latin typeface="Calibri"/>
              </a:rPr>
              <a:t>.</a:t>
            </a:r>
          </a:p>
        </p:txBody>
      </p:sp>
      <p:pic>
        <p:nvPicPr>
          <p:cNvPr id="16" name="Grafik 15">
            <a:extLst>
              <a:ext uri="{FF2B5EF4-FFF2-40B4-BE49-F238E27FC236}">
                <a16:creationId xmlns:a16="http://schemas.microsoft.com/office/drawing/2014/main" id="{8E04B98D-B278-81D1-F45E-695A0D613557}"/>
              </a:ext>
            </a:extLst>
          </p:cNvPr>
          <p:cNvPicPr>
            <a:picLocks noChangeAspect="1"/>
          </p:cNvPicPr>
          <p:nvPr/>
        </p:nvPicPr>
        <p:blipFill>
          <a:blip r:embed="rId3"/>
          <a:stretch>
            <a:fillRect/>
          </a:stretch>
        </p:blipFill>
        <p:spPr>
          <a:xfrm>
            <a:off x="5244512" y="2472824"/>
            <a:ext cx="6846903" cy="2918191"/>
          </a:xfrm>
          <a:prstGeom prst="rect">
            <a:avLst/>
          </a:prstGeom>
          <a:ln>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a:solidFill>
                  <a:srgbClr val="0B3C49"/>
                </a:solidFill>
                <a:latin typeface="Cambria"/>
              </a:rPr>
              <a:t>Unsere Empfehlung für Nicole</a:t>
            </a: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8</a:t>
            </a:fld>
            <a:endParaRPr lang="de-DE" sz="1000">
              <a:solidFill>
                <a:srgbClr val="7C8C91"/>
              </a:solidFill>
            </a:endParaRPr>
          </a:p>
        </p:txBody>
      </p:sp>
      <p:sp>
        <p:nvSpPr>
          <p:cNvPr id="5" name="Empfehlung Karte"/>
          <p:cNvSpPr/>
          <p:nvPr/>
        </p:nvSpPr>
        <p:spPr>
          <a:xfrm>
            <a:off x="548640" y="1645920"/>
            <a:ext cx="5394960" cy="192024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Nummer 1"/>
          <p:cNvSpPr/>
          <p:nvPr/>
        </p:nvSpPr>
        <p:spPr>
          <a:xfrm>
            <a:off x="822959" y="1920240"/>
            <a:ext cx="548640" cy="548640"/>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1</a:t>
            </a:r>
          </a:p>
        </p:txBody>
      </p:sp>
      <p:sp>
        <p:nvSpPr>
          <p:cNvPr id="7" name="TextBox 6"/>
          <p:cNvSpPr txBox="1"/>
          <p:nvPr/>
        </p:nvSpPr>
        <p:spPr>
          <a:xfrm>
            <a:off x="1554480" y="1920240"/>
            <a:ext cx="4114800" cy="548640"/>
          </a:xfrm>
          <a:prstGeom prst="rect">
            <a:avLst/>
          </a:prstGeom>
          <a:noFill/>
        </p:spPr>
        <p:txBody>
          <a:bodyPr wrap="square" lIns="0" tIns="0" rIns="0" bIns="0" anchor="ctr">
            <a:spAutoFit/>
          </a:bodyPr>
          <a:lstStyle/>
          <a:p>
            <a:pPr algn="l"/>
            <a:r>
              <a:rPr sz="2000" b="1" i="0">
                <a:solidFill>
                  <a:srgbClr val="0B3C49"/>
                </a:solidFill>
                <a:latin typeface="Cambria"/>
              </a:rPr>
              <a:t>Gebiet</a:t>
            </a:r>
          </a:p>
        </p:txBody>
      </p:sp>
      <p:sp>
        <p:nvSpPr>
          <p:cNvPr id="8" name="TextBox 7"/>
          <p:cNvSpPr txBox="1"/>
          <p:nvPr/>
        </p:nvSpPr>
        <p:spPr>
          <a:xfrm>
            <a:off x="822959" y="2560320"/>
            <a:ext cx="4846320" cy="914400"/>
          </a:xfrm>
          <a:prstGeom prst="rect">
            <a:avLst/>
          </a:prstGeom>
          <a:noFill/>
        </p:spPr>
        <p:txBody>
          <a:bodyPr wrap="square" lIns="0" tIns="0" rIns="0" bIns="0" anchor="t">
            <a:spAutoFit/>
          </a:bodyPr>
          <a:lstStyle/>
          <a:p>
            <a:pPr algn="l"/>
            <a:r>
              <a:rPr sz="1400" b="0" i="0">
                <a:solidFill>
                  <a:srgbClr val="1B2A2F"/>
                </a:solidFill>
                <a:latin typeface="Calibri"/>
              </a:rPr>
              <a:t>Rund um Capitol Hill, Fremont und Ballard suchen (bis ca. 3 km). Im Kern von Downtown gibt es kaum Häuser.</a:t>
            </a:r>
          </a:p>
        </p:txBody>
      </p:sp>
      <p:sp>
        <p:nvSpPr>
          <p:cNvPr id="9" name="Empfehlung Karte"/>
          <p:cNvSpPr/>
          <p:nvPr/>
        </p:nvSpPr>
        <p:spPr>
          <a:xfrm>
            <a:off x="6217920" y="1645920"/>
            <a:ext cx="5394960" cy="192024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Nummer 2"/>
          <p:cNvSpPr/>
          <p:nvPr/>
        </p:nvSpPr>
        <p:spPr>
          <a:xfrm>
            <a:off x="6492240" y="1920240"/>
            <a:ext cx="548640" cy="548640"/>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2</a:t>
            </a:r>
          </a:p>
        </p:txBody>
      </p:sp>
      <p:sp>
        <p:nvSpPr>
          <p:cNvPr id="11" name="TextBox 10"/>
          <p:cNvSpPr txBox="1"/>
          <p:nvPr/>
        </p:nvSpPr>
        <p:spPr>
          <a:xfrm>
            <a:off x="7223760" y="1920240"/>
            <a:ext cx="4114800" cy="548640"/>
          </a:xfrm>
          <a:prstGeom prst="rect">
            <a:avLst/>
          </a:prstGeom>
          <a:noFill/>
        </p:spPr>
        <p:txBody>
          <a:bodyPr wrap="square" lIns="0" tIns="0" rIns="0" bIns="0" anchor="ctr">
            <a:spAutoFit/>
          </a:bodyPr>
          <a:lstStyle/>
          <a:p>
            <a:pPr algn="l"/>
            <a:r>
              <a:rPr sz="2000" b="1" i="0">
                <a:solidFill>
                  <a:srgbClr val="0B3C49"/>
                </a:solidFill>
                <a:latin typeface="Cambria"/>
              </a:rPr>
              <a:t>Budget</a:t>
            </a:r>
          </a:p>
        </p:txBody>
      </p:sp>
      <p:sp>
        <p:nvSpPr>
          <p:cNvPr id="12" name="TextBox 11"/>
          <p:cNvSpPr txBox="1"/>
          <p:nvPr/>
        </p:nvSpPr>
        <p:spPr>
          <a:xfrm>
            <a:off x="6492240" y="2560320"/>
            <a:ext cx="4846320" cy="914400"/>
          </a:xfrm>
          <a:prstGeom prst="rect">
            <a:avLst/>
          </a:prstGeom>
          <a:noFill/>
        </p:spPr>
        <p:txBody>
          <a:bodyPr wrap="square" lIns="0" tIns="0" rIns="0" bIns="0" anchor="t">
            <a:spAutoFit/>
          </a:bodyPr>
          <a:lstStyle/>
          <a:p>
            <a:pPr algn="l"/>
            <a:r>
              <a:rPr sz="1400" b="0" i="0">
                <a:solidFill>
                  <a:srgbClr val="1B2A2F"/>
                </a:solidFill>
                <a:latin typeface="Calibri"/>
              </a:rPr>
              <a:t>Bei der Ausstattung sparen statt bei der Lage: einfachere Ausstattung bringt mehr Fläche fürs gleiche Geld.</a:t>
            </a:r>
          </a:p>
        </p:txBody>
      </p:sp>
      <p:sp>
        <p:nvSpPr>
          <p:cNvPr id="13" name="Empfehlung Karte"/>
          <p:cNvSpPr/>
          <p:nvPr/>
        </p:nvSpPr>
        <p:spPr>
          <a:xfrm>
            <a:off x="548640" y="3749039"/>
            <a:ext cx="5394960" cy="192024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ummer 3"/>
          <p:cNvSpPr/>
          <p:nvPr/>
        </p:nvSpPr>
        <p:spPr>
          <a:xfrm>
            <a:off x="822959" y="4023359"/>
            <a:ext cx="548640" cy="548640"/>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3</a:t>
            </a:r>
          </a:p>
        </p:txBody>
      </p:sp>
      <p:sp>
        <p:nvSpPr>
          <p:cNvPr id="15" name="TextBox 14"/>
          <p:cNvSpPr txBox="1"/>
          <p:nvPr/>
        </p:nvSpPr>
        <p:spPr>
          <a:xfrm>
            <a:off x="1554480" y="4023359"/>
            <a:ext cx="4114800" cy="548640"/>
          </a:xfrm>
          <a:prstGeom prst="rect">
            <a:avLst/>
          </a:prstGeom>
          <a:noFill/>
        </p:spPr>
        <p:txBody>
          <a:bodyPr wrap="square" lIns="0" tIns="0" rIns="0" bIns="0" anchor="ctr">
            <a:spAutoFit/>
          </a:bodyPr>
          <a:lstStyle/>
          <a:p>
            <a:pPr algn="l"/>
            <a:r>
              <a:rPr sz="2000" b="1" i="0">
                <a:solidFill>
                  <a:srgbClr val="0B3C49"/>
                </a:solidFill>
                <a:latin typeface="Cambria"/>
              </a:rPr>
              <a:t>Kompromiss</a:t>
            </a:r>
          </a:p>
        </p:txBody>
      </p:sp>
      <p:sp>
        <p:nvSpPr>
          <p:cNvPr id="16" name="TextBox 15"/>
          <p:cNvSpPr txBox="1"/>
          <p:nvPr/>
        </p:nvSpPr>
        <p:spPr>
          <a:xfrm>
            <a:off x="822959" y="4663440"/>
            <a:ext cx="4846320" cy="430887"/>
          </a:xfrm>
          <a:prstGeom prst="rect">
            <a:avLst/>
          </a:prstGeom>
          <a:noFill/>
        </p:spPr>
        <p:txBody>
          <a:bodyPr wrap="square" lIns="0" tIns="0" rIns="0" bIns="0" anchor="t">
            <a:spAutoFit/>
          </a:bodyPr>
          <a:lstStyle/>
          <a:p>
            <a:pPr algn="l"/>
            <a:r>
              <a:rPr sz="1400" b="0" i="0" dirty="0">
                <a:solidFill>
                  <a:srgbClr val="1B2A2F"/>
                </a:solidFill>
                <a:latin typeface="Calibri"/>
              </a:rPr>
              <a:t>Weiter </a:t>
            </a:r>
            <a:r>
              <a:rPr sz="1400" b="0" i="0" dirty="0" err="1">
                <a:solidFill>
                  <a:srgbClr val="1B2A2F"/>
                </a:solidFill>
                <a:latin typeface="Calibri"/>
              </a:rPr>
              <a:t>draußen</a:t>
            </a:r>
            <a:r>
              <a:rPr sz="1400" b="0" i="0" dirty="0">
                <a:solidFill>
                  <a:srgbClr val="1B2A2F"/>
                </a:solidFill>
                <a:latin typeface="Calibri"/>
              </a:rPr>
              <a:t> (3 bis 5 km, </a:t>
            </a:r>
            <a:r>
              <a:rPr lang="de-DE" sz="1400" b="0" i="0" dirty="0">
                <a:solidFill>
                  <a:srgbClr val="1B2A2F"/>
                </a:solidFill>
                <a:latin typeface="Calibri"/>
              </a:rPr>
              <a:t>oder Alternativen wie</a:t>
            </a:r>
            <a:r>
              <a:rPr sz="1400" b="0" i="0" dirty="0">
                <a:solidFill>
                  <a:srgbClr val="1B2A2F"/>
                </a:solidFill>
                <a:latin typeface="Calibri"/>
              </a:rPr>
              <a:t> Renton, Burien) </a:t>
            </a:r>
            <a:r>
              <a:rPr sz="1400" b="0" i="0" dirty="0" err="1">
                <a:solidFill>
                  <a:srgbClr val="1B2A2F"/>
                </a:solidFill>
                <a:latin typeface="Calibri"/>
              </a:rPr>
              <a:t>sinkt</a:t>
            </a:r>
            <a:r>
              <a:rPr sz="1400" b="0" i="0" dirty="0">
                <a:solidFill>
                  <a:srgbClr val="1B2A2F"/>
                </a:solidFill>
                <a:latin typeface="Calibri"/>
              </a:rPr>
              <a:t> der Preis pro m², das </a:t>
            </a:r>
            <a:r>
              <a:rPr sz="1400" b="0" i="0" dirty="0" err="1">
                <a:solidFill>
                  <a:srgbClr val="1B2A2F"/>
                </a:solidFill>
                <a:latin typeface="Calibri"/>
              </a:rPr>
              <a:t>bringt</a:t>
            </a:r>
            <a:r>
              <a:rPr sz="1400" b="0" i="0" dirty="0">
                <a:solidFill>
                  <a:srgbClr val="1B2A2F"/>
                </a:solidFill>
                <a:latin typeface="Calibri"/>
              </a:rPr>
              <a:t> </a:t>
            </a:r>
            <a:r>
              <a:rPr sz="1400" b="0" i="0" dirty="0" err="1">
                <a:solidFill>
                  <a:srgbClr val="1B2A2F"/>
                </a:solidFill>
                <a:latin typeface="Calibri"/>
              </a:rPr>
              <a:t>mehr</a:t>
            </a:r>
            <a:r>
              <a:rPr sz="1400" b="0" i="0" dirty="0">
                <a:solidFill>
                  <a:srgbClr val="1B2A2F"/>
                </a:solidFill>
                <a:latin typeface="Calibri"/>
              </a:rPr>
              <a:t> Platz.</a:t>
            </a:r>
          </a:p>
        </p:txBody>
      </p:sp>
      <p:sp>
        <p:nvSpPr>
          <p:cNvPr id="17" name="Empfehlung Karte"/>
          <p:cNvSpPr/>
          <p:nvPr/>
        </p:nvSpPr>
        <p:spPr>
          <a:xfrm>
            <a:off x="6217920" y="3749039"/>
            <a:ext cx="5394960" cy="192024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ummer 4"/>
          <p:cNvSpPr/>
          <p:nvPr/>
        </p:nvSpPr>
        <p:spPr>
          <a:xfrm>
            <a:off x="6492240" y="4023359"/>
            <a:ext cx="548640" cy="548640"/>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4</a:t>
            </a:r>
          </a:p>
        </p:txBody>
      </p:sp>
      <p:sp>
        <p:nvSpPr>
          <p:cNvPr id="19" name="TextBox 18"/>
          <p:cNvSpPr txBox="1"/>
          <p:nvPr/>
        </p:nvSpPr>
        <p:spPr>
          <a:xfrm>
            <a:off x="7223760" y="4023359"/>
            <a:ext cx="4114800" cy="548640"/>
          </a:xfrm>
          <a:prstGeom prst="rect">
            <a:avLst/>
          </a:prstGeom>
          <a:noFill/>
        </p:spPr>
        <p:txBody>
          <a:bodyPr wrap="square" lIns="0" tIns="0" rIns="0" bIns="0" anchor="ctr">
            <a:spAutoFit/>
          </a:bodyPr>
          <a:lstStyle/>
          <a:p>
            <a:pPr algn="l"/>
            <a:r>
              <a:rPr sz="2000" b="1" i="0">
                <a:solidFill>
                  <a:srgbClr val="0B3C49"/>
                </a:solidFill>
                <a:latin typeface="Cambria"/>
              </a:rPr>
              <a:t>Zeitpunkt</a:t>
            </a:r>
          </a:p>
        </p:txBody>
      </p:sp>
      <p:sp>
        <p:nvSpPr>
          <p:cNvPr id="20" name="TextBox 19"/>
          <p:cNvSpPr txBox="1"/>
          <p:nvPr/>
        </p:nvSpPr>
        <p:spPr>
          <a:xfrm>
            <a:off x="6492240" y="4663440"/>
            <a:ext cx="4846320" cy="914400"/>
          </a:xfrm>
          <a:prstGeom prst="rect">
            <a:avLst/>
          </a:prstGeom>
          <a:noFill/>
        </p:spPr>
        <p:txBody>
          <a:bodyPr wrap="square" lIns="0" tIns="0" rIns="0" bIns="0" anchor="t">
            <a:spAutoFit/>
          </a:bodyPr>
          <a:lstStyle/>
          <a:p>
            <a:pPr algn="l"/>
            <a:r>
              <a:rPr sz="1400" b="0" i="0">
                <a:solidFill>
                  <a:srgbClr val="1B2A2F"/>
                </a:solidFill>
                <a:latin typeface="Calibri"/>
              </a:rPr>
              <a:t>Die Preise geben keinen Grund zur Eile oder zum Warten. Nach der persönlichen Situation entscheiden.</a:t>
            </a:r>
          </a:p>
        </p:txBody>
      </p:sp>
      <p:sp>
        <p:nvSpPr>
          <p:cNvPr id="21" name="Hinweis Zustand Karte"/>
          <p:cNvSpPr/>
          <p:nvPr/>
        </p:nvSpPr>
        <p:spPr>
          <a:xfrm>
            <a:off x="548640" y="5806440"/>
            <a:ext cx="11064240" cy="50292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Hinweis Zustand"/>
          <p:cNvSpPr txBox="1"/>
          <p:nvPr/>
        </p:nvSpPr>
        <p:spPr>
          <a:xfrm>
            <a:off x="822960" y="5806440"/>
            <a:ext cx="10515600" cy="502920"/>
          </a:xfrm>
          <a:prstGeom prst="rect">
            <a:avLst/>
          </a:prstGeom>
          <a:noFill/>
        </p:spPr>
        <p:txBody>
          <a:bodyPr wrap="square" lIns="0" tIns="0" rIns="0" bIns="0" anchor="ctr">
            <a:spAutoFit/>
          </a:bodyPr>
          <a:lstStyle/>
          <a:p>
            <a:pPr algn="l"/>
            <a:r>
              <a:rPr sz="1600" b="1" i="0">
                <a:solidFill>
                  <a:srgbClr val="FFFFFF"/>
                </a:solidFill>
                <a:latin typeface="Calibri"/>
              </a:rPr>
              <a:t>Ein guter Zustand kostet kaum mehr: Darauf muss Nicole nicht verzichten.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a:solidFill>
                  <a:srgbClr val="0B3C49"/>
                </a:solidFill>
                <a:latin typeface="Cambria"/>
              </a:rPr>
              <a:t>Was die Analyse nicht leisten kann</a:t>
            </a: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9</a:t>
            </a:fld>
            <a:endParaRPr lang="de-DE" sz="1000">
              <a:solidFill>
                <a:srgbClr val="7C8C91"/>
              </a:solidFill>
            </a:endParaRPr>
          </a:p>
        </p:txBody>
      </p:sp>
      <p:sp>
        <p:nvSpPr>
          <p:cNvPr id="5" name="Punkt"/>
          <p:cNvSpPr/>
          <p:nvPr/>
        </p:nvSpPr>
        <p:spPr>
          <a:xfrm>
            <a:off x="548640" y="1801368"/>
            <a:ext cx="320040" cy="32004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691640"/>
            <a:ext cx="3291840" cy="548640"/>
          </a:xfrm>
          <a:prstGeom prst="rect">
            <a:avLst/>
          </a:prstGeom>
          <a:noFill/>
        </p:spPr>
        <p:txBody>
          <a:bodyPr wrap="square" lIns="0" tIns="0" rIns="0" bIns="0" anchor="ctr">
            <a:spAutoFit/>
          </a:bodyPr>
          <a:lstStyle/>
          <a:p>
            <a:pPr algn="l"/>
            <a:r>
              <a:rPr sz="1800" b="1" i="0">
                <a:solidFill>
                  <a:srgbClr val="0B3C49"/>
                </a:solidFill>
                <a:latin typeface="Calibri"/>
              </a:rPr>
              <a:t>Nur ein Jahr</a:t>
            </a:r>
          </a:p>
        </p:txBody>
      </p:sp>
      <p:sp>
        <p:nvSpPr>
          <p:cNvPr id="7" name="TextBox 6"/>
          <p:cNvSpPr txBox="1"/>
          <p:nvPr/>
        </p:nvSpPr>
        <p:spPr>
          <a:xfrm>
            <a:off x="4480560" y="1691640"/>
            <a:ext cx="7132320" cy="548640"/>
          </a:xfrm>
          <a:prstGeom prst="rect">
            <a:avLst/>
          </a:prstGeom>
          <a:noFill/>
        </p:spPr>
        <p:txBody>
          <a:bodyPr wrap="square" lIns="0" tIns="0" rIns="0" bIns="0" anchor="ctr">
            <a:spAutoFit/>
          </a:bodyPr>
          <a:lstStyle/>
          <a:p>
            <a:pPr algn="l"/>
            <a:r>
              <a:rPr sz="1600" b="0" i="0">
                <a:solidFill>
                  <a:srgbClr val="1B2A2F"/>
                </a:solidFill>
                <a:latin typeface="Calibri"/>
              </a:rPr>
              <a:t>Mai 2014 bis Mai 2015. Trends und Saisonalität lassen sich nicht sicher trennen.</a:t>
            </a:r>
          </a:p>
        </p:txBody>
      </p:sp>
      <p:sp>
        <p:nvSpPr>
          <p:cNvPr id="8" name="Punkt"/>
          <p:cNvSpPr/>
          <p:nvPr/>
        </p:nvSpPr>
        <p:spPr>
          <a:xfrm>
            <a:off x="548640" y="2715768"/>
            <a:ext cx="320040" cy="32004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unkt"/>
          <p:cNvSpPr/>
          <p:nvPr/>
        </p:nvSpPr>
        <p:spPr>
          <a:xfrm>
            <a:off x="548640" y="3630168"/>
            <a:ext cx="320040" cy="32004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583180"/>
            <a:ext cx="3291840" cy="548640"/>
          </a:xfrm>
          <a:prstGeom prst="rect">
            <a:avLst/>
          </a:prstGeom>
          <a:noFill/>
        </p:spPr>
        <p:txBody>
          <a:bodyPr wrap="square" lIns="0" tIns="0" rIns="0" bIns="0" anchor="ctr">
            <a:spAutoFit/>
          </a:bodyPr>
          <a:lstStyle/>
          <a:p>
            <a:pPr algn="l"/>
            <a:r>
              <a:rPr sz="1800" b="1" i="0" dirty="0">
                <a:solidFill>
                  <a:srgbClr val="0B3C49"/>
                </a:solidFill>
                <a:latin typeface="Calibri"/>
              </a:rPr>
              <a:t>Kleine Gruppen</a:t>
            </a:r>
          </a:p>
        </p:txBody>
      </p:sp>
      <p:sp>
        <p:nvSpPr>
          <p:cNvPr id="13" name="TextBox 12"/>
          <p:cNvSpPr txBox="1"/>
          <p:nvPr/>
        </p:nvSpPr>
        <p:spPr>
          <a:xfrm>
            <a:off x="4480560" y="2583180"/>
            <a:ext cx="7132320" cy="548640"/>
          </a:xfrm>
          <a:prstGeom prst="rect">
            <a:avLst/>
          </a:prstGeom>
          <a:noFill/>
        </p:spPr>
        <p:txBody>
          <a:bodyPr wrap="square" lIns="0" tIns="0" rIns="0" bIns="0" anchor="ctr">
            <a:spAutoFit/>
          </a:bodyPr>
          <a:lstStyle/>
          <a:p>
            <a:pPr algn="l"/>
            <a:r>
              <a:rPr sz="1600" b="0" i="0" dirty="0" err="1">
                <a:solidFill>
                  <a:srgbClr val="1B2A2F"/>
                </a:solidFill>
                <a:latin typeface="Calibri"/>
              </a:rPr>
              <a:t>Einige</a:t>
            </a:r>
            <a:r>
              <a:rPr sz="1600" b="0" i="0" dirty="0">
                <a:solidFill>
                  <a:srgbClr val="1B2A2F"/>
                </a:solidFill>
                <a:latin typeface="Calibri"/>
              </a:rPr>
              <a:t> </a:t>
            </a:r>
            <a:r>
              <a:rPr sz="1600" b="0" i="0" dirty="0" err="1">
                <a:solidFill>
                  <a:srgbClr val="1B2A2F"/>
                </a:solidFill>
                <a:latin typeface="Calibri"/>
              </a:rPr>
              <a:t>Auswertungen</a:t>
            </a:r>
            <a:r>
              <a:rPr sz="1600" b="0" i="0" dirty="0">
                <a:solidFill>
                  <a:srgbClr val="1B2A2F"/>
                </a:solidFill>
                <a:latin typeface="Calibri"/>
              </a:rPr>
              <a:t> </a:t>
            </a:r>
            <a:r>
              <a:rPr sz="1600" b="0" i="0" dirty="0" err="1">
                <a:solidFill>
                  <a:srgbClr val="1B2A2F"/>
                </a:solidFill>
                <a:latin typeface="Calibri"/>
              </a:rPr>
              <a:t>beruhen</a:t>
            </a:r>
            <a:r>
              <a:rPr sz="1600" b="0" i="0" dirty="0">
                <a:solidFill>
                  <a:srgbClr val="1B2A2F"/>
                </a:solidFill>
                <a:latin typeface="Calibri"/>
              </a:rPr>
              <a:t> auf </a:t>
            </a:r>
            <a:r>
              <a:rPr sz="1600" b="0" i="0" dirty="0" err="1">
                <a:solidFill>
                  <a:srgbClr val="1B2A2F"/>
                </a:solidFill>
                <a:latin typeface="Calibri"/>
              </a:rPr>
              <a:t>wenigen</a:t>
            </a:r>
            <a:r>
              <a:rPr sz="1600" b="0" i="0" dirty="0">
                <a:solidFill>
                  <a:srgbClr val="1B2A2F"/>
                </a:solidFill>
                <a:latin typeface="Calibri"/>
              </a:rPr>
              <a:t> </a:t>
            </a:r>
            <a:r>
              <a:rPr sz="1600" b="0" i="0" dirty="0" err="1">
                <a:solidFill>
                  <a:srgbClr val="1B2A2F"/>
                </a:solidFill>
                <a:latin typeface="Calibri"/>
              </a:rPr>
              <a:t>Dutzend</a:t>
            </a:r>
            <a:r>
              <a:rPr sz="1600" b="0" i="0" dirty="0">
                <a:solidFill>
                  <a:srgbClr val="1B2A2F"/>
                </a:solidFill>
                <a:latin typeface="Calibri"/>
              </a:rPr>
              <a:t> </a:t>
            </a:r>
            <a:r>
              <a:rPr sz="1600" b="0" i="0" dirty="0" err="1">
                <a:solidFill>
                  <a:srgbClr val="1B2A2F"/>
                </a:solidFill>
                <a:latin typeface="Calibri"/>
              </a:rPr>
              <a:t>Häusern</a:t>
            </a:r>
            <a:r>
              <a:rPr sz="1600" b="0" i="0" dirty="0">
                <a:solidFill>
                  <a:srgbClr val="1B2A2F"/>
                </a:solidFill>
                <a:latin typeface="Calibri"/>
              </a:rPr>
              <a:t>.</a:t>
            </a:r>
          </a:p>
        </p:txBody>
      </p:sp>
      <p:sp>
        <p:nvSpPr>
          <p:cNvPr id="15" name="TextBox 14"/>
          <p:cNvSpPr txBox="1"/>
          <p:nvPr/>
        </p:nvSpPr>
        <p:spPr>
          <a:xfrm>
            <a:off x="1097280" y="3520440"/>
            <a:ext cx="3291840" cy="548640"/>
          </a:xfrm>
          <a:prstGeom prst="rect">
            <a:avLst/>
          </a:prstGeom>
          <a:noFill/>
        </p:spPr>
        <p:txBody>
          <a:bodyPr wrap="square" lIns="0" tIns="0" rIns="0" bIns="0" anchor="ctr">
            <a:spAutoFit/>
          </a:bodyPr>
          <a:lstStyle/>
          <a:p>
            <a:pPr algn="l"/>
            <a:r>
              <a:rPr sz="1800" b="1" i="0" dirty="0">
                <a:solidFill>
                  <a:srgbClr val="0B3C49"/>
                </a:solidFill>
                <a:latin typeface="Calibri"/>
              </a:rPr>
              <a:t>Nicht </a:t>
            </a:r>
            <a:r>
              <a:rPr sz="1800" b="1" i="0" dirty="0" err="1">
                <a:solidFill>
                  <a:srgbClr val="0B3C49"/>
                </a:solidFill>
                <a:latin typeface="Calibri"/>
              </a:rPr>
              <a:t>erfasst</a:t>
            </a:r>
            <a:endParaRPr sz="1800" b="1" i="0" dirty="0">
              <a:solidFill>
                <a:srgbClr val="0B3C49"/>
              </a:solidFill>
              <a:latin typeface="Calibri"/>
            </a:endParaRPr>
          </a:p>
        </p:txBody>
      </p:sp>
      <p:sp>
        <p:nvSpPr>
          <p:cNvPr id="16" name="TextBox 15"/>
          <p:cNvSpPr txBox="1"/>
          <p:nvPr/>
        </p:nvSpPr>
        <p:spPr>
          <a:xfrm>
            <a:off x="4480560" y="3515868"/>
            <a:ext cx="7132320" cy="548640"/>
          </a:xfrm>
          <a:prstGeom prst="rect">
            <a:avLst/>
          </a:prstGeom>
          <a:noFill/>
        </p:spPr>
        <p:txBody>
          <a:bodyPr wrap="square" lIns="0" tIns="0" rIns="0" bIns="0" anchor="ctr">
            <a:spAutoFit/>
          </a:bodyPr>
          <a:lstStyle/>
          <a:p>
            <a:pPr algn="l"/>
            <a:r>
              <a:rPr sz="1600" b="0" i="0" dirty="0" err="1">
                <a:solidFill>
                  <a:srgbClr val="1B2A2F"/>
                </a:solidFill>
                <a:latin typeface="Calibri"/>
              </a:rPr>
              <a:t>Straßenlärm</a:t>
            </a:r>
            <a:r>
              <a:rPr sz="1600" b="0" i="0" dirty="0">
                <a:solidFill>
                  <a:srgbClr val="1B2A2F"/>
                </a:solidFill>
                <a:latin typeface="Calibri"/>
              </a:rPr>
              <a:t>, </a:t>
            </a:r>
            <a:r>
              <a:rPr sz="1600" b="0" i="0" dirty="0" err="1">
                <a:solidFill>
                  <a:srgbClr val="1B2A2F"/>
                </a:solidFill>
                <a:latin typeface="Calibri"/>
              </a:rPr>
              <a:t>Nahverkehr</a:t>
            </a:r>
            <a:r>
              <a:rPr sz="1600" b="0" i="0" dirty="0">
                <a:solidFill>
                  <a:srgbClr val="1B2A2F"/>
                </a:solidFill>
                <a:latin typeface="Calibri"/>
              </a:rPr>
              <a:t>, </a:t>
            </a:r>
            <a:r>
              <a:rPr sz="1600" b="0" i="0" dirty="0" err="1">
                <a:solidFill>
                  <a:srgbClr val="1B2A2F"/>
                </a:solidFill>
                <a:latin typeface="Calibri"/>
              </a:rPr>
              <a:t>Nebenkosten</a:t>
            </a:r>
            <a:r>
              <a:rPr sz="1600" b="0" i="0" dirty="0">
                <a:solidFill>
                  <a:srgbClr val="1B2A2F"/>
                </a:solidFill>
                <a:latin typeface="Calibri"/>
              </a:rPr>
              <a:t> und </a:t>
            </a:r>
            <a:r>
              <a:rPr sz="1600" b="0" i="0" dirty="0" err="1">
                <a:solidFill>
                  <a:srgbClr val="1B2A2F"/>
                </a:solidFill>
                <a:latin typeface="Calibri"/>
              </a:rPr>
              <a:t>Finanzierung</a:t>
            </a:r>
            <a:r>
              <a:rPr sz="1600" b="0" i="0" dirty="0">
                <a:solidFill>
                  <a:srgbClr val="1B2A2F"/>
                </a:solidFill>
                <a:latin typeface="Calibri"/>
              </a:rPr>
              <a:t> </a:t>
            </a:r>
            <a:r>
              <a:rPr sz="1600" b="0" i="0" dirty="0" err="1">
                <a:solidFill>
                  <a:srgbClr val="1B2A2F"/>
                </a:solidFill>
                <a:latin typeface="Calibri"/>
              </a:rPr>
              <a:t>stehen</a:t>
            </a:r>
            <a:r>
              <a:rPr sz="1600" b="0" i="0" dirty="0">
                <a:solidFill>
                  <a:srgbClr val="1B2A2F"/>
                </a:solidFill>
                <a:latin typeface="Calibri"/>
              </a:rPr>
              <a:t> nicht in den </a:t>
            </a:r>
            <a:r>
              <a:rPr sz="1600" b="0" i="0" dirty="0" err="1">
                <a:solidFill>
                  <a:srgbClr val="1B2A2F"/>
                </a:solidFill>
                <a:latin typeface="Calibri"/>
              </a:rPr>
              <a:t>Daten</a:t>
            </a:r>
            <a:r>
              <a:rPr sz="1600" b="0" i="0" dirty="0">
                <a:solidFill>
                  <a:srgbClr val="1B2A2F"/>
                </a:solidFill>
                <a:latin typeface="Calibri"/>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65760"/>
            <a:ext cx="11064240" cy="1097280"/>
          </a:xfrm>
        </p:spPr>
        <p:txBody>
          <a:bodyPr wrap="square" lIns="0" tIns="0" rIns="0" bIns="0" anchor="t"/>
          <a:lstStyle/>
          <a:p>
            <a:pPr algn="l"/>
            <a:r>
              <a:rPr sz="2800" b="1" i="0">
                <a:solidFill>
                  <a:srgbClr val="0B3C49"/>
                </a:solidFill>
                <a:latin typeface="Cambria"/>
              </a:rPr>
              <a:t>Nächste Schritte</a:t>
            </a:r>
          </a:p>
        </p:txBody>
      </p:sp>
      <p:sp>
        <p:nvSpPr>
          <p:cNvPr id="3" name="Fußzeile"/>
          <p:cNvSpPr txBox="1"/>
          <p:nvPr/>
        </p:nvSpPr>
        <p:spPr>
          <a:xfrm>
            <a:off x="548640" y="6446520"/>
            <a:ext cx="7315200" cy="274320"/>
          </a:xfrm>
          <a:prstGeom prst="rect">
            <a:avLst/>
          </a:prstGeom>
          <a:noFill/>
        </p:spPr>
        <p:txBody>
          <a:bodyPr wrap="square" lIns="0" tIns="0" rIns="0" bIns="0" anchor="t">
            <a:spAutoFit/>
          </a:bodyPr>
          <a:lstStyle/>
          <a:p>
            <a:pPr algn="l"/>
            <a:r>
              <a:rPr sz="1000" b="0" i="0">
                <a:solidFill>
                  <a:srgbClr val="7C8C91"/>
                </a:solidFill>
                <a:latin typeface="Calibri"/>
              </a:rPr>
              <a:t>Wo, was und wann? Hauskauf in Seattle · Nicole Johnson</a:t>
            </a:r>
          </a:p>
        </p:txBody>
      </p:sp>
      <p:sp>
        <p:nvSpPr>
          <p:cNvPr id="4" name="Foliennummer"/>
          <p:cNvSpPr txBox="1"/>
          <p:nvPr/>
        </p:nvSpPr>
        <p:spPr>
          <a:xfrm>
            <a:off x="11155680" y="6446520"/>
            <a:ext cx="457200" cy="274320"/>
          </a:xfrm>
          <a:prstGeom prst="rect">
            <a:avLst/>
          </a:prstGeom>
          <a:noFill/>
        </p:spPr>
        <p:txBody>
          <a:bodyPr wrap="none" lIns="0" tIns="0" rIns="0" bIns="0">
            <a:spAutoFit/>
          </a:bodyPr>
          <a:lstStyle/>
          <a:p>
            <a:pPr algn="r"/>
            <a:fld id="{B6F15528-21DE-4FAA-801E-634DDDAF4B2B}" type="slidenum">
              <a:rPr lang="de-DE" sz="1000">
                <a:solidFill>
                  <a:srgbClr val="7C8C91"/>
                </a:solidFill>
              </a:rPr>
              <a:t>10</a:t>
            </a:fld>
            <a:endParaRPr lang="de-DE" sz="1000">
              <a:solidFill>
                <a:srgbClr val="7C8C91"/>
              </a:solidFill>
            </a:endParaRPr>
          </a:p>
        </p:txBody>
      </p:sp>
      <p:sp>
        <p:nvSpPr>
          <p:cNvPr id="5" name="Schritt Karte"/>
          <p:cNvSpPr/>
          <p:nvPr/>
        </p:nvSpPr>
        <p:spPr>
          <a:xfrm>
            <a:off x="548640" y="1737360"/>
            <a:ext cx="2606040" cy="402336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Nummer 1"/>
          <p:cNvSpPr/>
          <p:nvPr/>
        </p:nvSpPr>
        <p:spPr>
          <a:xfrm>
            <a:off x="822959" y="2011680"/>
            <a:ext cx="548640" cy="548640"/>
          </a:xfrm>
          <a:prstGeom prst="ellipse">
            <a:avLst/>
          </a:prstGeom>
          <a:solidFill>
            <a:srgbClr val="3A7D8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1</a:t>
            </a:r>
          </a:p>
        </p:txBody>
      </p:sp>
      <p:sp>
        <p:nvSpPr>
          <p:cNvPr id="7" name="TextBox 6"/>
          <p:cNvSpPr txBox="1"/>
          <p:nvPr/>
        </p:nvSpPr>
        <p:spPr>
          <a:xfrm>
            <a:off x="822959" y="2788920"/>
            <a:ext cx="2103120" cy="553998"/>
          </a:xfrm>
          <a:prstGeom prst="rect">
            <a:avLst/>
          </a:prstGeom>
          <a:noFill/>
        </p:spPr>
        <p:txBody>
          <a:bodyPr wrap="square" lIns="0" tIns="0" rIns="0" bIns="0" anchor="t">
            <a:spAutoFit/>
          </a:bodyPr>
          <a:lstStyle/>
          <a:p>
            <a:pPr algn="l"/>
            <a:r>
              <a:rPr lang="de-DE" sz="1800" b="1" i="0" dirty="0">
                <a:solidFill>
                  <a:srgbClr val="0B3C49"/>
                </a:solidFill>
                <a:latin typeface="Calibri"/>
              </a:rPr>
              <a:t>Bedürfnisse genauer abklären</a:t>
            </a:r>
            <a:endParaRPr sz="1800" b="1" i="0" dirty="0">
              <a:solidFill>
                <a:srgbClr val="0B3C49"/>
              </a:solidFill>
              <a:latin typeface="Calibri"/>
            </a:endParaRPr>
          </a:p>
        </p:txBody>
      </p:sp>
      <p:sp>
        <p:nvSpPr>
          <p:cNvPr id="8" name="TextBox 7"/>
          <p:cNvSpPr txBox="1"/>
          <p:nvPr/>
        </p:nvSpPr>
        <p:spPr>
          <a:xfrm>
            <a:off x="822959" y="3657600"/>
            <a:ext cx="2103120" cy="430887"/>
          </a:xfrm>
          <a:prstGeom prst="rect">
            <a:avLst/>
          </a:prstGeom>
          <a:noFill/>
        </p:spPr>
        <p:txBody>
          <a:bodyPr wrap="square" lIns="0" tIns="0" rIns="0" bIns="0" anchor="t">
            <a:spAutoFit/>
          </a:bodyPr>
          <a:lstStyle/>
          <a:p>
            <a:pPr algn="l"/>
            <a:r>
              <a:rPr lang="de-DE" sz="1400" b="0" i="0" dirty="0">
                <a:solidFill>
                  <a:srgbClr val="1B2A2F"/>
                </a:solidFill>
                <a:latin typeface="Calibri"/>
              </a:rPr>
              <a:t>Gespräch mit der Kundin zu ihren wünschen führen</a:t>
            </a:r>
            <a:endParaRPr sz="1400" b="0" i="0" dirty="0">
              <a:solidFill>
                <a:srgbClr val="1B2A2F"/>
              </a:solidFill>
              <a:latin typeface="Calibri"/>
            </a:endParaRPr>
          </a:p>
        </p:txBody>
      </p:sp>
      <p:sp>
        <p:nvSpPr>
          <p:cNvPr id="9" name="Schritt Karte"/>
          <p:cNvSpPr/>
          <p:nvPr/>
        </p:nvSpPr>
        <p:spPr>
          <a:xfrm>
            <a:off x="3337560" y="1737360"/>
            <a:ext cx="2606040" cy="402336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Nummer 2"/>
          <p:cNvSpPr/>
          <p:nvPr/>
        </p:nvSpPr>
        <p:spPr>
          <a:xfrm>
            <a:off x="3611879" y="2011680"/>
            <a:ext cx="548640" cy="548640"/>
          </a:xfrm>
          <a:prstGeom prst="ellipse">
            <a:avLst/>
          </a:prstGeom>
          <a:solidFill>
            <a:srgbClr val="3A7D8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2</a:t>
            </a:r>
          </a:p>
        </p:txBody>
      </p:sp>
      <p:sp>
        <p:nvSpPr>
          <p:cNvPr id="11" name="TextBox 10"/>
          <p:cNvSpPr txBox="1"/>
          <p:nvPr/>
        </p:nvSpPr>
        <p:spPr>
          <a:xfrm>
            <a:off x="3611879" y="2788920"/>
            <a:ext cx="2103120" cy="822960"/>
          </a:xfrm>
          <a:prstGeom prst="rect">
            <a:avLst/>
          </a:prstGeom>
          <a:noFill/>
        </p:spPr>
        <p:txBody>
          <a:bodyPr wrap="square" lIns="0" tIns="0" rIns="0" bIns="0" anchor="t">
            <a:spAutoFit/>
          </a:bodyPr>
          <a:lstStyle/>
          <a:p>
            <a:pPr algn="l"/>
            <a:r>
              <a:rPr sz="1800" b="1" i="0" dirty="0" err="1">
                <a:solidFill>
                  <a:srgbClr val="0B3C49"/>
                </a:solidFill>
                <a:latin typeface="Calibri"/>
              </a:rPr>
              <a:t>Besichtigen</a:t>
            </a:r>
            <a:endParaRPr sz="1800" b="1" i="0" dirty="0">
              <a:solidFill>
                <a:srgbClr val="0B3C49"/>
              </a:solidFill>
              <a:latin typeface="Calibri"/>
            </a:endParaRPr>
          </a:p>
        </p:txBody>
      </p:sp>
      <p:sp>
        <p:nvSpPr>
          <p:cNvPr id="12" name="TextBox 11"/>
          <p:cNvSpPr txBox="1"/>
          <p:nvPr/>
        </p:nvSpPr>
        <p:spPr>
          <a:xfrm>
            <a:off x="3611879" y="3657600"/>
            <a:ext cx="2103120" cy="646331"/>
          </a:xfrm>
          <a:prstGeom prst="rect">
            <a:avLst/>
          </a:prstGeom>
          <a:noFill/>
        </p:spPr>
        <p:txBody>
          <a:bodyPr wrap="square" lIns="0" tIns="0" rIns="0" bIns="0" anchor="t">
            <a:spAutoFit/>
          </a:bodyPr>
          <a:lstStyle/>
          <a:p>
            <a:pPr algn="l"/>
            <a:r>
              <a:rPr lang="de-DE" sz="1400" b="0" i="0" dirty="0">
                <a:solidFill>
                  <a:srgbClr val="1B2A2F"/>
                </a:solidFill>
                <a:latin typeface="Calibri"/>
              </a:rPr>
              <a:t>Aktuelle Angebote heraussuchen. Angebote mit den Kriterien heraussuchen.</a:t>
            </a:r>
            <a:endParaRPr sz="1400" b="0" i="0" dirty="0">
              <a:solidFill>
                <a:srgbClr val="1B2A2F"/>
              </a:solidFill>
              <a:latin typeface="Calibri"/>
            </a:endParaRPr>
          </a:p>
        </p:txBody>
      </p:sp>
      <p:sp>
        <p:nvSpPr>
          <p:cNvPr id="13" name="Schritt Karte"/>
          <p:cNvSpPr/>
          <p:nvPr/>
        </p:nvSpPr>
        <p:spPr>
          <a:xfrm>
            <a:off x="6126479" y="1737360"/>
            <a:ext cx="2606040" cy="402336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ummer 3"/>
          <p:cNvSpPr/>
          <p:nvPr/>
        </p:nvSpPr>
        <p:spPr>
          <a:xfrm>
            <a:off x="6400799" y="2011680"/>
            <a:ext cx="548640" cy="548640"/>
          </a:xfrm>
          <a:prstGeom prst="ellipse">
            <a:avLst/>
          </a:prstGeom>
          <a:solidFill>
            <a:srgbClr val="3A7D8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3</a:t>
            </a:r>
          </a:p>
        </p:txBody>
      </p:sp>
      <p:sp>
        <p:nvSpPr>
          <p:cNvPr id="15" name="TextBox 14"/>
          <p:cNvSpPr txBox="1"/>
          <p:nvPr/>
        </p:nvSpPr>
        <p:spPr>
          <a:xfrm>
            <a:off x="6400799" y="2788920"/>
            <a:ext cx="2103120" cy="822960"/>
          </a:xfrm>
          <a:prstGeom prst="rect">
            <a:avLst/>
          </a:prstGeom>
          <a:noFill/>
        </p:spPr>
        <p:txBody>
          <a:bodyPr wrap="square" lIns="0" tIns="0" rIns="0" bIns="0" anchor="t">
            <a:spAutoFit/>
          </a:bodyPr>
          <a:lstStyle/>
          <a:p>
            <a:pPr algn="l"/>
            <a:r>
              <a:rPr sz="1800" b="1" i="0" dirty="0" err="1">
                <a:solidFill>
                  <a:srgbClr val="0B3C49"/>
                </a:solidFill>
                <a:latin typeface="Calibri"/>
              </a:rPr>
              <a:t>Finanzierung</a:t>
            </a:r>
            <a:r>
              <a:rPr sz="1800" b="1" i="0" dirty="0">
                <a:solidFill>
                  <a:srgbClr val="0B3C49"/>
                </a:solidFill>
                <a:latin typeface="Calibri"/>
              </a:rPr>
              <a:t> </a:t>
            </a:r>
            <a:r>
              <a:rPr sz="1800" b="1" i="0" dirty="0" err="1">
                <a:solidFill>
                  <a:srgbClr val="0B3C49"/>
                </a:solidFill>
                <a:latin typeface="Calibri"/>
              </a:rPr>
              <a:t>klären</a:t>
            </a:r>
            <a:endParaRPr sz="1800" b="1" i="0" dirty="0">
              <a:solidFill>
                <a:srgbClr val="0B3C49"/>
              </a:solidFill>
              <a:latin typeface="Calibri"/>
            </a:endParaRPr>
          </a:p>
        </p:txBody>
      </p:sp>
      <p:sp>
        <p:nvSpPr>
          <p:cNvPr id="16" name="TextBox 15"/>
          <p:cNvSpPr txBox="1"/>
          <p:nvPr/>
        </p:nvSpPr>
        <p:spPr>
          <a:xfrm>
            <a:off x="6400799" y="3657600"/>
            <a:ext cx="2103120" cy="1920240"/>
          </a:xfrm>
          <a:prstGeom prst="rect">
            <a:avLst/>
          </a:prstGeom>
          <a:noFill/>
        </p:spPr>
        <p:txBody>
          <a:bodyPr wrap="square" lIns="0" tIns="0" rIns="0" bIns="0" anchor="t">
            <a:spAutoFit/>
          </a:bodyPr>
          <a:lstStyle/>
          <a:p>
            <a:pPr algn="l"/>
            <a:r>
              <a:rPr sz="1400" b="0" i="0">
                <a:solidFill>
                  <a:srgbClr val="1B2A2F"/>
                </a:solidFill>
                <a:latin typeface="Calibri"/>
              </a:rPr>
              <a:t>Budget, Nebenkosten und Eigenkapital festlegen.</a:t>
            </a:r>
          </a:p>
        </p:txBody>
      </p:sp>
      <p:sp>
        <p:nvSpPr>
          <p:cNvPr id="17" name="Schritt Karte"/>
          <p:cNvSpPr/>
          <p:nvPr/>
        </p:nvSpPr>
        <p:spPr>
          <a:xfrm>
            <a:off x="8915399" y="1737360"/>
            <a:ext cx="2606040" cy="4023360"/>
          </a:xfrm>
          <a:prstGeom prst="roundRect">
            <a:avLst>
              <a:gd name="adj" fmla="val 8000"/>
            </a:avLst>
          </a:prstGeom>
          <a:solidFill>
            <a:srgbClr val="ED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ummer 4"/>
          <p:cNvSpPr/>
          <p:nvPr/>
        </p:nvSpPr>
        <p:spPr>
          <a:xfrm>
            <a:off x="9189719" y="2011680"/>
            <a:ext cx="548640" cy="548640"/>
          </a:xfrm>
          <a:prstGeom prst="ellipse">
            <a:avLst/>
          </a:prstGeom>
          <a:solidFill>
            <a:srgbClr val="3A7D8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Calibri"/>
              </a:rPr>
              <a:t>4</a:t>
            </a:r>
          </a:p>
        </p:txBody>
      </p:sp>
      <p:sp>
        <p:nvSpPr>
          <p:cNvPr id="19" name="TextBox 18"/>
          <p:cNvSpPr txBox="1"/>
          <p:nvPr/>
        </p:nvSpPr>
        <p:spPr>
          <a:xfrm>
            <a:off x="9189719" y="2788920"/>
            <a:ext cx="2103120" cy="822960"/>
          </a:xfrm>
          <a:prstGeom prst="rect">
            <a:avLst/>
          </a:prstGeom>
          <a:noFill/>
        </p:spPr>
        <p:txBody>
          <a:bodyPr wrap="square" lIns="0" tIns="0" rIns="0" bIns="0" anchor="t">
            <a:spAutoFit/>
          </a:bodyPr>
          <a:lstStyle/>
          <a:p>
            <a:pPr algn="l"/>
            <a:r>
              <a:rPr sz="1800" b="1" i="0" dirty="0" err="1">
                <a:solidFill>
                  <a:srgbClr val="0B3C49"/>
                </a:solidFill>
                <a:latin typeface="Calibri"/>
              </a:rPr>
              <a:t>Analyse</a:t>
            </a:r>
            <a:r>
              <a:rPr sz="1800" b="1" i="0" dirty="0">
                <a:solidFill>
                  <a:srgbClr val="0B3C49"/>
                </a:solidFill>
                <a:latin typeface="Calibri"/>
              </a:rPr>
              <a:t> </a:t>
            </a:r>
            <a:r>
              <a:rPr sz="1800" b="1" i="0" dirty="0" err="1">
                <a:solidFill>
                  <a:srgbClr val="0B3C49"/>
                </a:solidFill>
                <a:latin typeface="Calibri"/>
              </a:rPr>
              <a:t>aktualisieren</a:t>
            </a:r>
            <a:endParaRPr sz="1800" b="1" i="0" dirty="0">
              <a:solidFill>
                <a:srgbClr val="0B3C49"/>
              </a:solidFill>
              <a:latin typeface="Calibri"/>
            </a:endParaRPr>
          </a:p>
        </p:txBody>
      </p:sp>
      <p:sp>
        <p:nvSpPr>
          <p:cNvPr id="20" name="TextBox 19"/>
          <p:cNvSpPr txBox="1"/>
          <p:nvPr/>
        </p:nvSpPr>
        <p:spPr>
          <a:xfrm>
            <a:off x="9189719" y="3657600"/>
            <a:ext cx="2103120" cy="1920240"/>
          </a:xfrm>
          <a:prstGeom prst="rect">
            <a:avLst/>
          </a:prstGeom>
          <a:noFill/>
        </p:spPr>
        <p:txBody>
          <a:bodyPr wrap="square" lIns="0" tIns="0" rIns="0" bIns="0" anchor="t">
            <a:spAutoFit/>
          </a:bodyPr>
          <a:lstStyle/>
          <a:p>
            <a:pPr algn="l"/>
            <a:r>
              <a:rPr sz="1400" b="0" i="0">
                <a:solidFill>
                  <a:srgbClr val="1B2A2F"/>
                </a:solidFill>
                <a:latin typeface="Calibri"/>
              </a:rPr>
              <a:t>Mit aktuellen Verkaufsdaten wiederholen, um Preise und Zeitpunkt neu zu bewerten.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103120"/>
            <a:ext cx="10515600" cy="1280160"/>
          </a:xfrm>
        </p:spPr>
        <p:txBody>
          <a:bodyPr wrap="square" lIns="0" tIns="0" rIns="0" bIns="0" anchor="b"/>
          <a:lstStyle/>
          <a:p>
            <a:pPr algn="l"/>
            <a:r>
              <a:rPr sz="5400" b="1" i="0">
                <a:solidFill>
                  <a:srgbClr val="FFFFFF"/>
                </a:solidFill>
                <a:latin typeface="Cambria"/>
              </a:rPr>
              <a:t>Fragen und Diskussion</a:t>
            </a:r>
          </a:p>
        </p:txBody>
      </p:sp>
      <p:sp>
        <p:nvSpPr>
          <p:cNvPr id="3" name="Subtitle 2"/>
          <p:cNvSpPr>
            <a:spLocks noGrp="1"/>
          </p:cNvSpPr>
          <p:nvPr>
            <p:ph type="subTitle" idx="1"/>
          </p:nvPr>
        </p:nvSpPr>
        <p:spPr>
          <a:xfrm>
            <a:off x="822960" y="3611880"/>
            <a:ext cx="10058400" cy="914400"/>
          </a:xfrm>
        </p:spPr>
        <p:txBody>
          <a:bodyPr wrap="square" lIns="0" tIns="0" rIns="0" bIns="0"/>
          <a:lstStyle/>
          <a:p>
            <a:pPr algn="l"/>
            <a:r>
              <a:rPr sz="2000" b="0" i="0">
                <a:solidFill>
                  <a:srgbClr val="F2A541"/>
                </a:solidFill>
                <a:latin typeface="Calibri"/>
              </a:rPr>
              <a:t>Backup: Karte der Wiederverkäufe, Korrelationsmatrizen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1435</Words>
  <Application>Microsoft Office PowerPoint</Application>
  <PresentationFormat>Breitbild</PresentationFormat>
  <Paragraphs>128</Paragraphs>
  <Slides>11</Slides>
  <Notes>11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11</vt:i4>
      </vt:variant>
    </vt:vector>
  </HeadingPairs>
  <TitlesOfParts>
    <vt:vector size="15" baseType="lpstr">
      <vt:lpstr>Arial</vt:lpstr>
      <vt:lpstr>Calibri</vt:lpstr>
      <vt:lpstr>Cambria</vt:lpstr>
      <vt:lpstr>Office Theme</vt:lpstr>
      <vt:lpstr>Wo, was und wann?</vt:lpstr>
      <vt:lpstr>Nicole Johnson sucht ein Haus: zentral, belebt und im mittleren Preissegment</vt:lpstr>
      <vt:lpstr>Grundlage sind rund 21.600 Immobilienverkäufe im King County</vt:lpstr>
      <vt:lpstr>Was „zentral“ und „mittlere Preisklasse“ für Nicole bedeutet</vt:lpstr>
      <vt:lpstr>Wo? Kompromisse bei der Entfernung können sich lohnen.</vt:lpstr>
      <vt:lpstr>Was? Die Ausstattung bestimmt den Preis stärker als die Größe</vt:lpstr>
      <vt:lpstr>Wann? Die Preise bleiben über das Jahr stabil, nur das mittlere Segment zieht zum Schluss an</vt:lpstr>
      <vt:lpstr>Unsere Empfehlung für Nicole</vt:lpstr>
      <vt:lpstr>Was die Analyse nicht leisten kann</vt:lpstr>
      <vt:lpstr>Nächste Schritte</vt:lpstr>
      <vt:lpstr>Fragen und Diskussion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 was und wann? Hauskauf in Seattle mit Daten entscheiden</dc:title>
  <dc:subject/>
  <dc:creator>Justus Knappert</dc:creator>
  <cp:keywords/>
  <dc:description>generated using python-pptx</dc:description>
  <cp:lastModifiedBy>Justus Knappert</cp:lastModifiedBy>
  <cp:revision>12</cp:revision>
  <dcterms:created xsi:type="dcterms:W3CDTF">2013-01-27T09:14:16Z</dcterms:created>
  <dcterms:modified xsi:type="dcterms:W3CDTF">2026-10-15T15:44:20Z</dcterms:modified>
  <cp:category/>
</cp:coreProperties>
</file>